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70" r:id="rId22"/>
    <p:sldId id="271" r:id="rId23"/>
    <p:sldId id="272" r:id="rId24"/>
    <p:sldId id="273" r:id="rId25"/>
    <p:sldId id="260" r:id="rId12"/>
    <p:sldId id="261" r:id="rId13"/>
    <p:sldId id="262" r:id="rId14"/>
    <p:sldId id="263" r:id="rId15"/>
    <p:sldId id="264" r:id="rId16"/>
    <p:sldId id="274" r:id="rId26"/>
    <p:sldId id="275" r:id="rId27"/>
    <p:sldId id="276" r:id="rId28"/>
    <p:sldId id="277" r:id="rId29"/>
    <p:sldId id="278" r:id="rId30"/>
    <p:sldId id="279" r:id="rId31"/>
    <p:sldId id="280" r:id="rId32"/>
    <p:sldId id="281" r:id="rId33"/>
    <p:sldId id="282" r:id="rId34"/>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23.xml"/><Relationship Id="rId18" Type="http://schemas.openxmlformats.org/officeDocument/2006/relationships/slide" Target="slides/slide24.xml"/><Relationship Id="rId19" Type="http://schemas.openxmlformats.org/officeDocument/2006/relationships/slide" Target="slides/slide25.xml"/><Relationship Id="rId20" Type="http://schemas.openxmlformats.org/officeDocument/2006/relationships/slide" Target="slides/slide26.xml"/><Relationship Id="rId21" Type="http://schemas.openxmlformats.org/officeDocument/2006/relationships/slide" Target="slides/slide27.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reference design grounded in Microsoft documentation. Not an official Microsoft-certified solution or production deployment. Scope: Azure public cloud, EU-focused evaluation, IT platform only, Bicep/AVM. Read README.md, setup-guide.md, use-cases.md, costs.md and research reports alongside this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hypothesis: reduce responder toil and improve handover consistency. No guaranteed MTTR reduction. Product capabilities, provider/region availability and network support must be revalidated in the target environment. Source: https://learn.microsoft.com/en-us/azure/sre-agent/ ; https://learn.microsoft.com/en-us/azure/well-architected/operational-excellence/observability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CAF/ALZ governance does not replace workload WAF review. Assess both the platform services and consuming workloads. Sources: https://learn.microsoft.com/en-us/azure/cloud-adoption-framework/ready/landing-zone/design-areas ; https://learn.microsoft.com/en-us/azure/well-architected/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architecture, not a promise of native connectors for every arrow. The starter kit includes a Mermaid diagram. Manual sanitized evidence is a valid first implementation. Existing RBAC, Kubernetes authorization, tool scope and pipeline gates enforce boundaries; a prompt alone does 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proposed operational patterns, not built-in accelerator connectors. Detailed owners, drills, prompts and metrics are in use-cases.md. Sources: https://learn.microsoft.com/en-us/azure/cloud-adoption-framework/ready/landing-zone/design-area/subscription-vending ; https://azure.github.io/azure-monitor-baseline-alerts/ ; https://learn.microsoft.com/en-us/azure/architecture/reference-architectures/containers/aks/baseline-aks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Billing/subscription creation authority stays with designated administrators and pipelines. Azure Activity Logs do not contain every CI workflow stage. Source: https://learn.microsoft.com/en-us/azure/cloud-adoption-framework/ready/landing-zone/design-area/subscription-vending ; https://azure.github.io/Azure-Landing-Zones/accelerator/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landing-zone accelerator is a foundation, not an SRE-native onboarding connector. Model quality and application safety remain workload responsibilities. Quota is not guaranteed physical capacity. Sources: https://github.com/Azure/AI-Landing-Zones ; https://learn.microsoft.com/en-us/azure/cloud-adoption-framework/scenarios/ai/ready</a:t>
            </a:r>
          </a:p>
          <a:p>
            <a:r>
              <a:t>Maturity and scope: Azure/AI-Landing-Zones explicitly identifies the accelerator as preview. It provisions a workload/application landing-zone foundation, not a replacement ALZ platform. Accept preview risk and verify exact regional dependencies. Current CAF source: https://learn.microsoft.com/en-us/azure/cloud-adoption-framework/ai/ready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Reader is not Kubernetes cluster-admin and does not guarantee Kubernetes API read access. Drains, restarts, scaling and upgrades are changes. Sources: https://github.com/Azure/AKS-Landing-Zone-Accelerator ; https://learn.microsoft.com/en-us/azure/architecture/reference-architectures/containers/aks/baseline-aks ; https://learn.microsoft.com/en-us/azure/well-architected/operational-excellence/safe-deployments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success is not proof of recoverability. Cost budgets are notifications, not universal spend caps. Incident summaries require human confirmation and cannot certify compliance. Sources: https://learn.microsoft.com/en-us/azure/well-architected/ ; https://learn.microsoft.com/en-us/azure/sre-agent/pricing-billing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enable public access merely to work around an integration failure. No OT access is in scope. Do not assume a sector-specific regulation applies; the customer must identify obligations. setup-guide.md records the product-specific prerequisites and gate sequence.</a:t>
            </a:r>
          </a:p>
          <a:p>
            <a:r>
              <a:t>Specific adoption traps: Reader preset is not zero-write; permissions documentation includes subscription Monitoring Contributor. Inspect effective roles and reject unsuitable access. Evaluation order is Hooks &gt; tool policy &gt; default/connector approval &gt; run mode. A higher-priority Allow hook can override Global Deny; prohibit such hooks, deny all relevant mutation/generic execution paths and prove negative tests BEFORE connecting intake. Connecting Azure Monitor creates an autonomous quickstart_handler, polling about every minute with an initial one-day lookback. Apply controls first, connect only the controlled sandbox, then immediately use Builder &gt; Incident response plans &gt; Table view &gt; Turn off quickstart_handler. Create a narrowly filtered plan explicitly set to Review. Review alone does not guarantee no writes. SRE overall GA status was not established; ARM/API and selected connectors are explicitly preview. Sources: https://learn.microsoft.com/en-us/azure/sre-agent/permissions ; https://learn.microsoft.com/en-us/azure/sre-agent/tool-access-policies ; https://learn.microsoft.com/en-us/azure/sre-agent/azure-monitor-alerts ; https://learn.microsoft.com/en-us/azure/sre-agent/response-plan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an accountable owner for each platform service and incident/change decision. SRE Agent is never accountable. Detailed ownership matrix is in 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20-10-2026, consumption retail. West Europe USD 0.1360/AAU; France Central USD 0.1100/AAU, independently retrieved alongside EUR. Published GPT-rate scenario: 3403 AAU, EUR 407.34/USD 462.81 West Europe or EUR 329.41/USD 374.33 France Central. Published Opus-rate scenario: 4355 AAU, EUR 521.29/USD 592.28 or EUR 421.56/USD 479.05. These token volumes are documentation examples, not measured forecast. Retail meter presence does not prove deployment availability. Sources and meter IDs in costs.md; https://learn.microsoft.com/en-us/azure/sre-agent/pricing-billing ; https://prices.azure.com/api/retail/prices Reference deployment 20-10-2026: Microsoft.App/agents not offered in West Europe for the sandbox subscription; Sweden Central EUR 282.66 always-on (2,920 AAU) plus 2,000 AAU active cap (about EUR 194) = about EUR 477/month maximum.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schedule, not a deployment promise. Stop at any failed gate. Compare equivalent incident types; measure responder minutes, correctness, time-to-owner, recurrence and cost. Do not set an arbitrary promised MTTR reduction.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README, setup guide, twelve use cases, research evidence, optional compiled AVM monitoring skeleton, query examples, cost model, HTML playbook and this presentation. A reference deployment (infra\sre-agent: Bicep plus data-plane script) was applied to a sandbox subscription on 20-10-2026; see slides 20-21. This deck is a decision aid, not a production-readiness attestation.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number of agents is the biggest fixed-cost lever. Default to one platform-operations agent owned by the CCoE/platform team; add use cases as custom agents, response plans and scheduled tasks. Costs: 4 AAU per agent-hour x 730 h = 2,920 AAU; EUR 349.52 (West Europe, USD 397.12) or EUR 282.66 (France Central, USD 321.20) retail snapshot; the blueprint quotes about USD 292 at the USD 0.10 list AAU price. Excludes tokens and the 30-day trial. Sources: https://learn.microsoft.com/en-us/azure/sre-agent/pricing-billing ; https://learn.microsoft.com/en-us/azure/sre-agent/team-onboard ; https://learn.microsoft.com/en-us/azure/sre-agent/sub-agents ; https://learn.microsoft.com/en-us/azure/sre-agent/permissions ; https://learn.microsoft.com/en-us/azure/sre-agent/complete-setup ; https://learn.microsoft.com/en-us/azure/sre-agent/model-provider-selection ; https://learn.microsoft.com/en-us/azure/sre-agent/run-modes ; https://learn.microsoft.com/en-us/azure/sre-agent/data-privacy ; https://learn.microsoft.com/en-us/azure/sre-agent/supported-regions . Aligned with the Azure SRE Agent Enterprise Blueprint v2 (one agent per team, use cases inside, split only when different). Details: agent-topology.md. Verified nuances (20-10-2026): response plans and scheduled tasks default to Autonomous (only the agent-level fallback defaults to Review), so set Review explicitly. The Reader permission level always assigns Monitoring Contributor at subscription scope, so it is not zero-write. Sources: https://learn.microsoft.com/en-us/azure/sre-agent/run-modes ; https://learn.microsoft.com/en-us/azure/sre-agent/permissions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 triggers only: each corresponds to a property fixed per agent. A1-A5 come from the enterprise blueprint and Microsoft Learn; A6-A7 are kit additions (tenant anchoring of identity/RBAC; immutable hosting region and agent-level network/VNet configuration). Production vs test alone is not a trigger: approvals are per response plan/scheduled task and permissions per resource group - split only if policy requires a distinct identity/approver boundary (A2). For critical infrastructure, do not assume a regulation mandates segregation; record the internal policy that does. Sources: https://learn.microsoft.com/en-us/azure/sre-agent/pricing-billing ; https://learn.microsoft.com/en-us/azure/sre-agent/team-onboard ; https://learn.microsoft.com/en-us/azure/sre-agent/sub-agents ; https://learn.microsoft.com/en-us/azure/sre-agent/permissions ; https://learn.microsoft.com/en-us/azure/sre-agent/complete-setup ; https://learn.microsoft.com/en-us/azure/sre-agent/model-provider-selection ; https://learn.microsoft.com/en-us/azure/sre-agent/run-modes ; https://learn.microsoft.com/en-us/azure/sre-agent/data-privacy ; https://learn.microsoft.com/en-us/azure/sre-agent/supported-regions . Aligned with the Azure SRE Agent Enterprise Blueprint v2 (one agent per team, use cases inside, split only when different). Details: agent-topology.md. Evaluated refinement: several controls are agent-wide, not per plan - one managed identity, Administrator approval wherever that identity reaches, Standard Users can chat against prod through the agent identity, one AAU cap (exhaustion blocks chat and actions until next month), shared memory/knowledge. Therefore, once the agent has write access or Autonomous plans spanning prod and non-prod, use a separate production agent (A2). For critical infrastructure, prefer a dedicated production agent. Source: agent-topology.md section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intake checklist for every new request from CCoE or platform teams. If none of A1-A7 applies, the request becomes a new use case inside the existing agent and follows the use-case template (owner, signal, setup, exercise/pass, measure). Every additional agent needs a recorded trigger, owner, fixed-cost approval and quarterly review; merge agents whose trigger no longer applies. Sources: https://learn.microsoft.com/en-us/azure/sre-agent/pricing-billing ; https://learn.microsoft.com/en-us/azure/sre-agent/team-onboard ; https://learn.microsoft.com/en-us/azure/sre-agent/sub-agents ; https://learn.microsoft.com/en-us/azure/sre-agent/permissions ; https://learn.microsoft.com/en-us/azure/sre-agent/complete-setup ; https://learn.microsoft.com/en-us/azure/sre-agent/model-provider-selection ; https://learn.microsoft.com/en-us/azure/sre-agent/run-modes ; https://learn.microsoft.com/en-us/azure/sre-agent/data-privacy ; https://learn.microsoft.com/en-us/azure/sre-agent/supported-regions . Aligned with the Azure SRE Agent Enterprise Blueprint v2 (one agent per team, use cases inside, split only when different). Details: agent-topology.md. Evaluated refinement: several controls are agent-wide, not per plan - one managed identity, Administrator approval wherever that identity reaches, Standard Users can chat against prod through the agent identity, one AAU cap (exhaustion blocks chat and actions until next month), shared memory/knowledge. Therefore, once the agent has write access or Autonomous plans spanning prod and non-prod, use a separate production agent (A2). For critical infrastructure, prefer a dedicated production agent. Source: agent-topology.md section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assumes one tenant, one incident platform, an EUDB-eligible Azure OpenAI provider and one budget. 'Combine' = implement inside the platform-operations agent as the named custom agent with response plans/scheduled tasks. Keep paired cases together (UC06+UC07, UC08+UC09) in whichever agent owns that platform. UC12 runs in every agent. Write/remediation actions: keep out of the read-only pilot agent; separate boundary (A2) or widen per resource group after the trust gate. Sources: https://learn.microsoft.com/en-us/azure/sre-agent/pricing-billing ; https://learn.microsoft.com/en-us/azure/sre-agent/team-onboard ; https://learn.microsoft.com/en-us/azure/sre-agent/sub-agents ; https://learn.microsoft.com/en-us/azure/sre-agent/permissions ; https://learn.microsoft.com/en-us/azure/sre-agent/complete-setup ; https://learn.microsoft.com/en-us/azure/sre-agent/model-provider-selection ; https://learn.microsoft.com/en-us/azure/sre-agent/run-modes ; https://learn.microsoft.com/en-us/azure/sre-agent/data-privacy ; https://learn.microsoft.com/en-us/azure/sre-agent/supported-regions . Aligned with the Azure SRE Agent Enterprise Blueprint v2 (one agent per team, use cases inside, split only when different). Details: agent-topology.md.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pillar use case extends a core use case (W1-UC10, W2-UC02, W3-UC11, W4-UC04, W5-UC07/UC08). They complement, not replace, the Well-Architected Review, Advisor, Defender for Cloud, Cost Management and the SOC: the agent turns their signals into recurring, evidence-backed, owner-routed findings per landing zone. Rollout: phase 1 W4 out-of-band changes + W2; phase 2 W3 + W5; phase 3 W1 + W4 health gate. Sources: https://aka.ms/waf ; https://learn.microsoft.com/en-us/azure/well-architected/ ; https://learn.microsoft.com/en-us/assessments/azure-architecture-review/ . Details: waf-pillar-use-cases.md.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RE:03 failure modes, RE:04 targets, RE:05 redundancy, RE:09 DR tested, RE:10 health monitoring. Without declared targets the agent can only report configuration, not risk. Sources: https://learn.microsoft.com/en-us/azure/well-architected/reliability/checklist ; https://learn.microsoft.com/en-us/azure/well-architected/service-guides/ ; https://learn.microsoft.com/en-us/azure/chaos-studio/chaos-studio-overview Details and example prompt: waf-pillar-use-cases.md; queries: queries\starter-queries.kql.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SE:01 baseline, SE:04 segmentation, SE:05 identity, SE:06 network, SE:08 hardening, SE:10 monitoring. Separate agent only if SOC needs its own on-call or approver identity (A1/A2). Sources: https://learn.microsoft.com/en-us/azure/well-architected/security/checklist ; https://learn.microsoft.com/en-us/azure/defender-for-cloud/secure-score-security-controls Details and example prompt: waf-pillar-use-cases.md; queries: queries\starter-queries.kql.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CO:03 data, CO:04 budgets, CO:07 components, CO:08 environments, CO:10 data costs, CO:14 consolidation. Separate agent only if FinOps requires its own budget cap (A5). Sources: https://learn.microsoft.com/en-us/azure/well-architected/cost-optimization/checklist ; https://learn.microsoft.com/en-us/azure/cost-management-billing/understand/analyze-unexpected-charges Details and example prompt: waf-pillar-use-cases.md; queries: queries\starter-queries.kql.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OE:05 IaC, OE:06 workload supply chain, OE:08 incident response, OE:10 automation, OE:11 safe deployment. resourcechanges retains about 14 days; use Activity Log export for longer. Sources: https://learn.microsoft.com/en-us/azure/well-architected/operational-excellence/checklist ; https://learn.microsoft.com/en-us/azure/governance/resource-graph/how-to/get-resource-changes ; https://learn.microsoft.com/en-us/azure/sre-agent/evaluate Details and example prompt: waf-pillar-use-cases.md; queries: queries\starter-queries.kql.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PE:01 targets, PE:02 capacity planning, PE:04 data collection, PE:05 scaling, PE:11 live issues. Sources: https://learn.microsoft.com/en-us/azure/well-architected/performance-efficiency/checklist ; https://learn.microsoft.com/en-us/azure/quotas/quotas-overview ; https://learn.microsoft.com/en-us/azure/architecture/reference-architectures/containers/aks/baseline-aks Details and example prompt: waf-pillar-use-cases.md; queries: queries\starter-queries.kql.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Deployed 20-10-2026 to a sandbox subscription to prove the starter kit IaC and data-plane configuration; not a production attestation. Files: infra\sre-agent (main.bicep, agent.bicep, main.bicepparam with placeholders) and infra\sre-agent\dataplane (subagents.json, scheduled-tasks.json, response-plans.json, Apply-DataPlane.ps1). Region: Microsoft.App/agents was not offered in West Europe for this subscription; Sweden Central is in the lowest EU AAU tier (EUR 282.66/month always-on, same as France Central, Poland Central, UK South, Italy North). Access: subscription Reader + Log Analytics Reader only, accessLevel Low, Review mode; the agent cannot acknowledge or close alerts. Model provider MicrosoftFoundry chosen for EU Data Boundary alignment. Connector targets are masked on read by ARM and data-plane APIs; verify in the portal. No task output or alert investigation reviewed yet.</a:t>
            </a:r>
          </a:p>
          <a:p>
            <a:r>
              <a:t>Access check (20-10-2026): Reader (*/read) already grants query access to all workspace log data, so the redundant subscription Log Analytics Reader was removed. Setting the incident platform added Monitoring Contributor to the user-assigned identity outside the Bicep; keep it only if alert intake needs it and record it as an access change. Source: https://learn.microsoft.com/en-us/azure/azure-monitor/logs/manage-access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 plans: all Sev0-Sev4, merge window 1 hour, at most 2 automated attempts, no catch-all because match precedence across overlapping plans is undocumented. Known overlap: Resource Health alert on an AKS cluster can match rp-resource-health and rp-aks-platform. Title filters match AMBA default alert names. Scheduled task cron (UTC): w2 0 6 * * 1-5; w4 30 6 * * 1-5; w1 0 7 * * 1; w3 0 7 * * 2; w5 0 7 * * 3; uc05 0 7 * * 4; uc10 0 7 * * 5; uc12 0 8 1 * *. API lessons: workspace mode rejects new agent-to-agent hand-offs, so platform-orchestrator delegates via Task-based subagents; response plans reject deepInvestigationEnabled; connecting an incident platform in the portal creates a quickstart plan that can double-route; the data plane needs az login --scope https://azuresre.dev/.default. Source: infra\sre-agent\README.md.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script in demo-guide.md. Run in a sandbox, Review mode, all demo resources in rg-sre-demo, delete afterwards. Run demo 0 first: it proves alert intake end to end. Learn troubleshooting lists Monitoring Contributor for the agent identity as an intake condition; this kit is Reader-only by design, so if no thread appears, decide on Monitoring Contributor or a custom alerts-only role. AMBA ResourceHealthUnhealthyAlert includes UserInitiated events, which makes demo 4 deterministic and also shows alert noise. With Reader only, the agent proposes and a human applies; demo 9 (optional) grants temporary Contributor on rg-sre-demo to show the Approve/Deny flow and RBAC boundary. Every run consumes AAU against the 2,000 AAU cap.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1828800"/>
          </a:xfrm>
          <a:prstGeom prst="rect">
            <a:avLst/>
          </a:prstGeom>
          <a:noFill/>
        </p:spPr>
        <p:txBody>
          <a:bodyPr wrap="square">
            <a:spAutoFit/>
          </a:bodyPr>
          <a:lstStyle/>
          <a:p>
            <a:r>
              <a:rPr sz="3600" b="1" i="0">
                <a:solidFill>
                  <a:srgbClr val="FFFFFF"/>
                </a:solidFill>
                <a:latin typeface="Segoe UI"/>
              </a:rPr>
              <a:t>Azure SRE Agent: Foundation Starter Kit</a:t>
            </a:r>
          </a:p>
        </p:txBody>
      </p:sp>
      <p:sp>
        <p:nvSpPr>
          <p:cNvPr id="4" name="TextBox 3"/>
          <p:cNvSpPr txBox="1"/>
          <p:nvPr/>
        </p:nvSpPr>
        <p:spPr>
          <a:xfrm>
            <a:off x="731520" y="3474720"/>
            <a:ext cx="10058400" cy="914400"/>
          </a:xfrm>
          <a:prstGeom prst="rect">
            <a:avLst/>
          </a:prstGeom>
          <a:noFill/>
        </p:spPr>
        <p:txBody>
          <a:bodyPr wrap="square">
            <a:spAutoFit/>
          </a:bodyPr>
          <a:lstStyle/>
          <a:p>
            <a:r>
              <a:rPr sz="2000" b="0" i="0">
                <a:solidFill>
                  <a:srgbClr val="606060"/>
                </a:solidFill>
                <a:latin typeface="Segoe UI"/>
              </a:rPr>
              <a:t>Governed operations for CAF / ALZ, subscription vending, AI landing zones and AKS</a:t>
            </a:r>
          </a:p>
        </p:txBody>
      </p:sp>
      <p:sp>
        <p:nvSpPr>
          <p:cNvPr id="5" name="TextBox 4"/>
          <p:cNvSpPr txBox="1"/>
          <p:nvPr/>
        </p:nvSpPr>
        <p:spPr>
          <a:xfrm>
            <a:off x="731520" y="4114800"/>
            <a:ext cx="10058400" cy="548640"/>
          </a:xfrm>
          <a:prstGeom prst="rect">
            <a:avLst/>
          </a:prstGeom>
          <a:noFill/>
        </p:spPr>
        <p:txBody>
          <a:bodyPr wrap="none">
            <a:spAutoFit/>
          </a:bodyPr>
          <a:lstStyle/>
          <a:p>
            <a:r>
              <a:rPr sz="1400" b="0" i="1">
                <a:solidFill>
                  <a:srgbClr val="606060"/>
                </a:solidFill>
                <a:latin typeface="Segoe UI"/>
              </a:rPr>
              <a:t>Platform Engineering Reference</a:t>
            </a:r>
          </a:p>
        </p:txBody>
      </p:sp>
      <p:sp>
        <p:nvSpPr>
          <p:cNvPr id="6" name="TextBox 5"/>
          <p:cNvSpPr txBox="1"/>
          <p:nvPr/>
        </p:nvSpPr>
        <p:spPr>
          <a:xfrm>
            <a:off x="731520" y="4663440"/>
            <a:ext cx="10058400" cy="457200"/>
          </a:xfrm>
          <a:prstGeom prst="rect">
            <a:avLst/>
          </a:prstGeom>
          <a:noFill/>
        </p:spPr>
        <p:txBody>
          <a:bodyPr wrap="none">
            <a:spAutoFit/>
          </a:bodyPr>
          <a:lstStyle/>
          <a:p>
            <a:r>
              <a:rPr sz="1200" b="0" i="0">
                <a:solidFill>
                  <a:srgbClr val="606060"/>
                </a:solidFill>
                <a:latin typeface="Segoe UI"/>
              </a:rPr>
              <a:t>20-10-2026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Decision: pilot investigation before remediation</a:t>
            </a:r>
          </a:p>
        </p:txBody>
      </p:sp>
      <p:sp>
        <p:nvSpPr>
          <p:cNvPr id="4" name="TextBox 3"/>
          <p:cNvSpPr txBox="1"/>
          <p:nvPr/>
        </p:nvSpPr>
        <p:spPr>
          <a:xfrm>
            <a:off x="731520" y="1280160"/>
            <a:ext cx="10515600" cy="5029200"/>
          </a:xfrm>
          <a:prstGeom prst="rect">
            <a:avLst/>
          </a:prstGeom>
          <a:noFill/>
        </p:spPr>
        <p:txBody>
          <a:bodyPr wrap="square">
            <a:spAutoFit/>
          </a:bodyPr>
          <a:lstStyle/>
          <a:p>
            <a:pPr>
              <a:spcBef>
                <a:spcPts val="800"/>
              </a:spcBef>
              <a:spcAft>
                <a:spcPts val="400"/>
              </a:spcAft>
            </a:pPr>
            <a:r>
              <a:rPr sz="1600" b="0" i="0">
                <a:solidFill>
                  <a:srgbClr val="323232"/>
                </a:solidFill>
                <a:latin typeface="Segoe UI"/>
              </a:rPr>
              <a:t>• Use SRE Agent above the existing Azure foundation, not instead of it.</a:t>
            </a:r>
          </a:p>
          <a:p>
            <a:pPr>
              <a:spcBef>
                <a:spcPts val="800"/>
              </a:spcBef>
              <a:spcAft>
                <a:spcPts val="400"/>
              </a:spcAft>
            </a:pPr>
            <a:r>
              <a:rPr sz="1600" b="0" i="0">
                <a:solidFill>
                  <a:srgbClr val="323232"/>
                </a:solidFill>
                <a:latin typeface="Segoe UI"/>
              </a:rPr>
              <a:t>• Start with read-only, evidence-linked investigations and named human owners.</a:t>
            </a:r>
          </a:p>
          <a:p>
            <a:pPr>
              <a:spcBef>
                <a:spcPts val="800"/>
              </a:spcBef>
              <a:spcAft>
                <a:spcPts val="400"/>
              </a:spcAft>
            </a:pPr>
            <a:r>
              <a:rPr sz="1600" b="0" i="0">
                <a:solidFill>
                  <a:srgbClr val="323232"/>
                </a:solidFill>
                <a:latin typeface="Segoe UI"/>
              </a:rPr>
              <a:t>• Keep subscription vending, policy and accelerator pipelines authoritative.</a:t>
            </a:r>
          </a:p>
          <a:p>
            <a:pPr>
              <a:spcBef>
                <a:spcPts val="800"/>
              </a:spcBef>
              <a:spcAft>
                <a:spcPts val="400"/>
              </a:spcAft>
            </a:pPr>
            <a:r>
              <a:rPr sz="1600" b="0" i="0">
                <a:solidFill>
                  <a:srgbClr val="323232"/>
                </a:solidFill>
                <a:latin typeface="Segoe UI"/>
              </a:rPr>
              <a:t>• Gate production adoption on access, data geography, telemetry and fallback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CAF / ALZ and WAF: complementary responsibilities</a:t>
            </a:r>
          </a:p>
        </p:txBody>
      </p:sp>
      <p:sp>
        <p:nvSpPr>
          <p:cNvPr id="4" name="TextBox 3"/>
          <p:cNvSpPr txBox="1"/>
          <p:nvPr/>
        </p:nvSpPr>
        <p:spPr>
          <a:xfrm>
            <a:off x="457200" y="1188720"/>
            <a:ext cx="5303520" cy="457200"/>
          </a:xfrm>
          <a:prstGeom prst="rect">
            <a:avLst/>
          </a:prstGeom>
          <a:noFill/>
        </p:spPr>
        <p:txBody>
          <a:bodyPr wrap="none">
            <a:spAutoFit/>
          </a:bodyPr>
          <a:lstStyle/>
          <a:p>
            <a:r>
              <a:rPr sz="1800" b="1" i="0">
                <a:solidFill>
                  <a:srgbClr val="0078D4"/>
                </a:solidFill>
                <a:latin typeface="Segoe UI"/>
              </a:rPr>
              <a:t>CAF / Azure landing zones</a:t>
            </a:r>
          </a:p>
        </p:txBody>
      </p:sp>
      <p:sp>
        <p:nvSpPr>
          <p:cNvPr id="5" name="TextBox 4"/>
          <p:cNvSpPr txBox="1"/>
          <p:nvPr/>
        </p:nvSpPr>
        <p:spPr>
          <a:xfrm>
            <a:off x="4572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Enterprise platform design and governance</a:t>
            </a:r>
          </a:p>
          <a:p>
            <a:pPr>
              <a:spcBef>
                <a:spcPts val="600"/>
              </a:spcBef>
            </a:pPr>
            <a:r>
              <a:rPr sz="1400" b="0" i="0">
                <a:solidFill>
                  <a:srgbClr val="323232"/>
                </a:solidFill>
                <a:latin typeface="Segoe UI"/>
              </a:rPr>
              <a:t>• Management groups, subscriptions, identity and networking</a:t>
            </a:r>
          </a:p>
          <a:p>
            <a:pPr>
              <a:spcBef>
                <a:spcPts val="600"/>
              </a:spcBef>
            </a:pPr>
            <a:r>
              <a:rPr sz="1400" b="0" i="0">
                <a:solidFill>
                  <a:srgbClr val="323232"/>
                </a:solidFill>
                <a:latin typeface="Segoe UI"/>
              </a:rPr>
              <a:t>• Vending, policy, monitoring and automation standards</a:t>
            </a:r>
          </a:p>
        </p:txBody>
      </p:sp>
      <p:sp>
        <p:nvSpPr>
          <p:cNvPr id="6" name="TextBox 5"/>
          <p:cNvSpPr txBox="1"/>
          <p:nvPr/>
        </p:nvSpPr>
        <p:spPr>
          <a:xfrm>
            <a:off x="6400800" y="1188720"/>
            <a:ext cx="5303520" cy="457200"/>
          </a:xfrm>
          <a:prstGeom prst="rect">
            <a:avLst/>
          </a:prstGeom>
          <a:noFill/>
        </p:spPr>
        <p:txBody>
          <a:bodyPr wrap="none">
            <a:spAutoFit/>
          </a:bodyPr>
          <a:lstStyle/>
          <a:p>
            <a:r>
              <a:rPr sz="1800" b="1" i="0">
                <a:solidFill>
                  <a:srgbClr val="0078D4"/>
                </a:solidFill>
                <a:latin typeface="Segoe UI"/>
              </a:rPr>
              <a:t>Well-Architected Framework</a:t>
            </a:r>
          </a:p>
        </p:txBody>
      </p:sp>
      <p:sp>
        <p:nvSpPr>
          <p:cNvPr id="7" name="TextBox 6"/>
          <p:cNvSpPr txBox="1"/>
          <p:nvPr/>
        </p:nvSpPr>
        <p:spPr>
          <a:xfrm>
            <a:off x="64008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Quality of each platform service as a workload</a:t>
            </a:r>
          </a:p>
          <a:p>
            <a:pPr>
              <a:spcBef>
                <a:spcPts val="600"/>
              </a:spcBef>
            </a:pPr>
            <a:r>
              <a:rPr sz="1400" b="0" i="0">
                <a:solidFill>
                  <a:srgbClr val="323232"/>
                </a:solidFill>
                <a:latin typeface="Segoe UI"/>
              </a:rPr>
              <a:t>• Reliability, Security and Operational Excellence</a:t>
            </a:r>
          </a:p>
          <a:p>
            <a:pPr>
              <a:spcBef>
                <a:spcPts val="600"/>
              </a:spcBef>
            </a:pPr>
            <a:r>
              <a:rPr sz="1400" b="0" i="0">
                <a:solidFill>
                  <a:srgbClr val="323232"/>
                </a:solidFill>
                <a:latin typeface="Segoe UI"/>
              </a:rPr>
              <a:t>• Cost Optimization and Performance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Operating architecture: observe, reason, approve, change</a:t>
            </a:r>
          </a:p>
        </p:txBody>
      </p:sp>
      <p:sp>
        <p:nvSpPr>
          <p:cNvPr id="4" name="TextBox 3"/>
          <p:cNvSpPr txBox="1"/>
          <p:nvPr/>
        </p:nvSpPr>
        <p:spPr>
          <a:xfrm>
            <a:off x="731520" y="1280160"/>
            <a:ext cx="10515600" cy="5029200"/>
          </a:xfrm>
          <a:prstGeom prst="rect">
            <a:avLst/>
          </a:prstGeom>
          <a:noFill/>
        </p:spPr>
        <p:txBody>
          <a:bodyPr wrap="square">
            <a:spAutoFit/>
          </a:bodyPr>
          <a:lstStyle/>
          <a:p>
            <a:pPr>
              <a:spcBef>
                <a:spcPts val="800"/>
              </a:spcBef>
              <a:spcAft>
                <a:spcPts val="400"/>
              </a:spcAft>
            </a:pPr>
            <a:r>
              <a:rPr sz="1600" b="0" i="0">
                <a:solidFill>
                  <a:srgbClr val="323232"/>
                </a:solidFill>
                <a:latin typeface="Segoe UI"/>
              </a:rPr>
              <a:t>• ALZ / AI / AKS resources -&gt; existing metrics, logs, alerts and inventory.</a:t>
            </a:r>
          </a:p>
          <a:p>
            <a:pPr>
              <a:spcBef>
                <a:spcPts val="800"/>
              </a:spcBef>
              <a:spcAft>
                <a:spcPts val="400"/>
              </a:spcAft>
            </a:pPr>
            <a:r>
              <a:rPr sz="1600" b="0" i="0">
                <a:solidFill>
                  <a:srgbClr val="323232"/>
                </a:solidFill>
                <a:latin typeface="Segoe UI"/>
              </a:rPr>
              <a:t>• Approved telemetry and sanitized runbooks -&gt; scoped SRE investigation.</a:t>
            </a:r>
          </a:p>
          <a:p>
            <a:pPr>
              <a:spcBef>
                <a:spcPts val="800"/>
              </a:spcBef>
              <a:spcAft>
                <a:spcPts val="400"/>
              </a:spcAft>
            </a:pPr>
            <a:r>
              <a:rPr sz="1600" b="0" i="0">
                <a:solidFill>
                  <a:srgbClr val="323232"/>
                </a:solidFill>
                <a:latin typeface="Segoe UI"/>
              </a:rPr>
              <a:t>• Evidence + uncertainty + owner + proposal -&gt; human incident/change authority.</a:t>
            </a:r>
          </a:p>
          <a:p>
            <a:pPr>
              <a:spcBef>
                <a:spcPts val="800"/>
              </a:spcBef>
              <a:spcAft>
                <a:spcPts val="400"/>
              </a:spcAft>
            </a:pPr>
            <a:r>
              <a:rPr sz="1600" b="0" i="0">
                <a:solidFill>
                  <a:srgbClr val="323232"/>
                </a:solidFill>
                <a:latin typeface="Segoe UI"/>
              </a:rPr>
              <a:t>• Approved IaC pipeline -&gt; controlled change -&gt; original-flow verification.</a:t>
            </a:r>
          </a:p>
          <a:p>
            <a:pPr>
              <a:spcBef>
                <a:spcPts val="800"/>
              </a:spcBef>
              <a:spcAft>
                <a:spcPts val="400"/>
              </a:spcAft>
            </a:pPr>
            <a:r>
              <a:rPr sz="1600" b="0" i="0">
                <a:solidFill>
                  <a:srgbClr val="323232"/>
                </a:solidFill>
                <a:latin typeface="Segoe UI"/>
              </a:rPr>
              <a:t>• Independent monitoring and human on-call remain 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One agent per team - use cases inside the agent</a:t>
            </a:r>
          </a:p>
        </p:txBody>
      </p:sp>
      <p:sp>
        <p:nvSpPr>
          <p:cNvPr id="4" name="TextBox 3"/>
          <p:cNvSpPr txBox="1"/>
          <p:nvPr/>
        </p:nvSpPr>
        <p:spPr>
          <a:xfrm>
            <a:off x="457200" y="1188720"/>
            <a:ext cx="5303520" cy="457200"/>
          </a:xfrm>
          <a:prstGeom prst="rect">
            <a:avLst/>
          </a:prstGeom>
          <a:noFill/>
        </p:spPr>
        <p:txBody>
          <a:bodyPr wrap="none">
            <a:spAutoFit/>
          </a:bodyPr>
          <a:lstStyle/>
          <a:p>
            <a:r>
              <a:rPr sz="1700" b="1">
                <a:solidFill>
                  <a:srgbClr val="0078D4"/>
                </a:solidFill>
                <a:latin typeface="Segoe UI"/>
              </a:rPr>
              <a:t>Default: one platform agent</a:t>
            </a:r>
          </a:p>
        </p:txBody>
      </p:sp>
      <p:sp>
        <p:nvSpPr>
          <p:cNvPr id="5" name="TextBox 4"/>
          <p:cNvSpPr txBox="1"/>
          <p:nvPr/>
        </p:nvSpPr>
        <p:spPr>
          <a:xfrm>
            <a:off x="457200" y="1688720"/>
            <a:ext cx="5303520" cy="4572000"/>
          </a:xfrm>
          <a:prstGeom prst="rect">
            <a:avLst/>
          </a:prstGeom>
          <a:noFill/>
        </p:spPr>
        <p:txBody>
          <a:bodyPr wrap="square">
            <a:spAutoFit/>
          </a:bodyPr>
          <a:lstStyle/>
          <a:p>
            <a:pPr>
              <a:spcBef>
                <a:spcPts val="500"/>
              </a:spcBef>
            </a:pPr>
            <a:r>
              <a:rPr sz="1300" b="0">
                <a:solidFill>
                  <a:srgbClr val="323232"/>
                </a:solidFill>
                <a:latin typeface="Segoe UI"/>
              </a:rPr>
              <a:t>• One agent watches many subscriptions, landing zones and regions in its scope</a:t>
            </a:r>
          </a:p>
          <a:p>
            <a:pPr>
              <a:spcBef>
                <a:spcPts val="500"/>
              </a:spcBef>
            </a:pPr>
            <a:r>
              <a:rPr sz="1300" b="0">
                <a:solidFill>
                  <a:srgbClr val="323232"/>
                </a:solidFill>
                <a:latin typeface="Segoe UI"/>
              </a:rPr>
              <a:t>• Use cases = custom agents (specialists), response plans (which alerts, how) and scheduled tasks (recurring checks)</a:t>
            </a:r>
          </a:p>
          <a:p>
            <a:pPr>
              <a:spcBef>
                <a:spcPts val="500"/>
              </a:spcBef>
            </a:pPr>
            <a:r>
              <a:rPr sz="1300" b="0">
                <a:solidFill>
                  <a:srgbClr val="323232"/>
                </a:solidFill>
                <a:latin typeface="Segoe UI"/>
              </a:rPr>
              <a:t>• Agent learns one team: on-call, services owned, escalation, runbooks</a:t>
            </a:r>
          </a:p>
          <a:p>
            <a:pPr>
              <a:spcBef>
                <a:spcPts val="500"/>
              </a:spcBef>
            </a:pPr>
            <a:r>
              <a:rPr sz="1300" b="0">
                <a:solidFill>
                  <a:srgbClr val="323232"/>
                </a:solidFill>
                <a:latin typeface="Segoe UI"/>
              </a:rPr>
              <a:t>• Plans and tasks default to Autonomous - set Review explicitly; Reader level still includes Monitoring Contributor</a:t>
            </a:r>
          </a:p>
          <a:p>
            <a:pPr>
              <a:spcBef>
                <a:spcPts val="500"/>
              </a:spcBef>
            </a:pPr>
            <a:r>
              <a:rPr sz="1300" b="0">
                <a:solidFill>
                  <a:srgbClr val="323232"/>
                </a:solidFill>
                <a:latin typeface="Segoe UI"/>
              </a:rPr>
              <a:t>• Each extra agent adds fixed cost (~EUR 283-350/month) plus onboarding, memory and review effort</a:t>
            </a:r>
          </a:p>
        </p:txBody>
      </p:sp>
      <p:sp>
        <p:nvSpPr>
          <p:cNvPr id="6" name="TextBox 5"/>
          <p:cNvSpPr txBox="1"/>
          <p:nvPr/>
        </p:nvSpPr>
        <p:spPr>
          <a:xfrm>
            <a:off x="6400800" y="1188720"/>
            <a:ext cx="5303520" cy="457200"/>
          </a:xfrm>
          <a:prstGeom prst="rect">
            <a:avLst/>
          </a:prstGeom>
          <a:noFill/>
        </p:spPr>
        <p:txBody>
          <a:bodyPr wrap="none">
            <a:spAutoFit/>
          </a:bodyPr>
          <a:lstStyle/>
          <a:p>
            <a:r>
              <a:rPr sz="1700" b="1">
                <a:solidFill>
                  <a:srgbClr val="0078D4"/>
                </a:solidFill>
                <a:latin typeface="Segoe UI"/>
              </a:rPr>
              <a:t>Reference topologies (fixed cost, WE)</a:t>
            </a:r>
          </a:p>
        </p:txBody>
      </p:sp>
      <p:sp>
        <p:nvSpPr>
          <p:cNvPr id="7" name="TextBox 6"/>
          <p:cNvSpPr txBox="1"/>
          <p:nvPr/>
        </p:nvSpPr>
        <p:spPr>
          <a:xfrm>
            <a:off x="6400800" y="1688720"/>
            <a:ext cx="5303520" cy="4572000"/>
          </a:xfrm>
          <a:prstGeom prst="rect">
            <a:avLst/>
          </a:prstGeom>
          <a:noFill/>
        </p:spPr>
        <p:txBody>
          <a:bodyPr wrap="square">
            <a:spAutoFit/>
          </a:bodyPr>
          <a:lstStyle/>
          <a:p>
            <a:pPr>
              <a:spcBef>
                <a:spcPts val="500"/>
              </a:spcBef>
            </a:pPr>
            <a:r>
              <a:rPr sz="1300" b="0">
                <a:solidFill>
                  <a:srgbClr val="323232"/>
                </a:solidFill>
                <a:latin typeface="Segoe UI"/>
              </a:rPr>
              <a:t>• 1 platform team runs ALZ, vending, AI LZ, AKS platform: 1 agent, UC01-UC12 - EUR 350</a:t>
            </a:r>
          </a:p>
          <a:p>
            <a:pPr>
              <a:spcBef>
                <a:spcPts val="500"/>
              </a:spcBef>
            </a:pPr>
            <a:r>
              <a:rPr sz="1300" b="0">
                <a:solidFill>
                  <a:srgbClr val="323232"/>
                </a:solidFill>
                <a:latin typeface="Segoe UI"/>
              </a:rPr>
              <a:t>• + dedicated AKS platform team: 2 agents (AKS takes UC08-09) - EUR 699</a:t>
            </a:r>
          </a:p>
          <a:p>
            <a:pPr>
              <a:spcBef>
                <a:spcPts val="500"/>
              </a:spcBef>
            </a:pPr>
            <a:r>
              <a:rPr sz="1300" b="0">
                <a:solidFill>
                  <a:srgbClr val="323232"/>
                </a:solidFill>
                <a:latin typeface="Segoe UI"/>
              </a:rPr>
              <a:t>• + separate AI platform team: 3 agents (AI takes UC06-07) - EUR 1,049</a:t>
            </a:r>
          </a:p>
          <a:p>
            <a:pPr>
              <a:spcBef>
                <a:spcPts val="500"/>
              </a:spcBef>
            </a:pPr>
            <a:r>
              <a:rPr sz="1300" b="0">
                <a:solidFill>
                  <a:srgbClr val="323232"/>
                </a:solidFill>
                <a:latin typeface="Segoe UI"/>
              </a:rPr>
              <a:t>• + 1 agent per mandated boundary (tenant, regulated scope, incident platform, model)</a:t>
            </a:r>
          </a:p>
          <a:p>
            <a:pPr>
              <a:spcBef>
                <a:spcPts val="500"/>
              </a:spcBef>
            </a:pPr>
            <a:r>
              <a:rPr sz="1300" b="0">
                <a:solidFill>
                  <a:srgbClr val="323232"/>
                </a:solidFill>
                <a:latin typeface="Segoe UI"/>
              </a:rPr>
              <a:t>• Workload teams: one agent per team, not per vended subscription; vending hands over scope, not a new agent</a:t>
            </a:r>
          </a:p>
        </p:txBody>
      </p:sp>
      <p:sp>
        <p:nvSpPr>
          <p:cNvPr id="8" name="Rectangle 7"/>
          <p:cNvSpPr/>
          <p:nvPr/>
        </p:nvSpPr>
        <p:spPr>
          <a:xfrm>
            <a:off x="731520" y="5303520"/>
            <a:ext cx="10728960" cy="640080"/>
          </a:xfrm>
          <a:prstGeom prst="rect">
            <a:avLst/>
          </a:prstGeom>
          <a:solidFill>
            <a:srgbClr val="E6F1FB"/>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078D4"/>
                </a:solidFill>
                <a:latin typeface="Segoe UI"/>
              </a:rPr>
              <a:t>Cost = fixed per agent + tokens per task. Consolidate unless a separate-agent trigger (A1-A7) applies.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When to create a separate agent</a:t>
            </a:r>
          </a:p>
        </p:txBody>
      </p:sp>
      <p:graphicFrame>
        <p:nvGraphicFramePr>
          <p:cNvPr id="4" name="Table 3"/>
          <p:cNvGraphicFramePr>
            <a:graphicFrameLocks noGrp="1"/>
          </p:cNvGraphicFramePr>
          <p:nvPr/>
        </p:nvGraphicFramePr>
        <p:xfrm>
          <a:off x="838047" y="1188720"/>
          <a:ext cx="10515600" cy="4389120"/>
        </p:xfrm>
        <a:graphic>
          <a:graphicData uri="http://schemas.openxmlformats.org/drawingml/2006/table">
            <a:tbl>
              <a:tblPr firstRow="1" bandRow="1">
                <a:tableStyleId>{5C22544A-7EE6-4342-B048-85BDC9FD1C3A}</a:tableStyleId>
              </a:tblPr>
              <a:tblGrid>
                <a:gridCol w="2651760"/>
                <a:gridCol w="4114800"/>
                <a:gridCol w="3749040"/>
              </a:tblGrid>
              <a:tr h="548640">
                <a:tc>
                  <a:txBody>
                    <a:bodyPr wrap="square"/>
                    <a:lstStyle/>
                    <a:p>
                      <a:r>
                        <a:rPr sz="1200" b="1">
                          <a:solidFill>
                            <a:srgbClr val="FFFFFF"/>
                          </a:solidFill>
                          <a:latin typeface="Segoe UI"/>
                        </a:rPr>
                        <a:t>Requirement that differs</a:t>
                      </a:r>
                    </a:p>
                  </a:txBody>
                  <a:tcPr marT="27432" marB="27432">
                    <a:solidFill>
                      <a:srgbClr val="0078D4"/>
                    </a:solidFill>
                  </a:tcPr>
                </a:tc>
                <a:tc>
                  <a:txBody>
                    <a:bodyPr wrap="square"/>
                    <a:lstStyle/>
                    <a:p>
                      <a:r>
                        <a:rPr sz="1200" b="1">
                          <a:solidFill>
                            <a:srgbClr val="FFFFFF"/>
                          </a:solidFill>
                          <a:latin typeface="Segoe UI"/>
                        </a:rPr>
                        <a:t>Why a separate agent</a:t>
                      </a:r>
                    </a:p>
                  </a:txBody>
                  <a:tcPr marT="27432" marB="27432">
                    <a:solidFill>
                      <a:srgbClr val="0078D4"/>
                    </a:solidFill>
                  </a:tcPr>
                </a:tc>
                <a:tc>
                  <a:txBody>
                    <a:bodyPr wrap="square"/>
                    <a:lstStyle/>
                    <a:p>
                      <a:r>
                        <a:rPr sz="1200" b="1">
                          <a:solidFill>
                            <a:srgbClr val="FFFFFF"/>
                          </a:solidFill>
                          <a:latin typeface="Segoe UI"/>
                        </a:rPr>
                        <a:t>Foundation example</a:t>
                      </a:r>
                    </a:p>
                  </a:txBody>
                  <a:tcPr marT="27432" marB="27432">
                    <a:solidFill>
                      <a:srgbClr val="0078D4"/>
                    </a:solidFill>
                  </a:tcPr>
                </a:tc>
              </a:tr>
              <a:tr h="548640">
                <a:tc>
                  <a:txBody>
                    <a:bodyPr wrap="square"/>
                    <a:lstStyle/>
                    <a:p>
                      <a:r>
                        <a:rPr sz="1100" b="1">
                          <a:solidFill>
                            <a:srgbClr val="323232"/>
                          </a:solidFill>
                          <a:latin typeface="Segoe UI"/>
                        </a:rPr>
                        <a:t>A1 Team &amp; on-call</a:t>
                      </a:r>
                    </a:p>
                  </a:txBody>
                  <a:tcPr marT="27432" marB="27432">
                    <a:solidFill>
                      <a:srgbClr val="F3F7FC"/>
                    </a:solidFill>
                  </a:tcPr>
                </a:tc>
                <a:tc>
                  <a:txBody>
                    <a:bodyPr wrap="square"/>
                    <a:lstStyle/>
                    <a:p>
                      <a:r>
                        <a:rPr sz="1100" b="0">
                          <a:solidFill>
                            <a:srgbClr val="323232"/>
                          </a:solidFill>
                          <a:latin typeface="Segoe UI"/>
                        </a:rPr>
                        <a:t>Agent learns one team's services, on-call and escalation</a:t>
                      </a:r>
                    </a:p>
                  </a:txBody>
                  <a:tcPr marT="27432" marB="27432">
                    <a:solidFill>
                      <a:srgbClr val="F3F7FC"/>
                    </a:solidFill>
                  </a:tcPr>
                </a:tc>
                <a:tc>
                  <a:txBody>
                    <a:bodyPr wrap="square"/>
                    <a:lstStyle/>
                    <a:p>
                      <a:r>
                        <a:rPr sz="1100" b="0">
                          <a:solidFill>
                            <a:srgbClr val="323232"/>
                          </a:solidFill>
                          <a:latin typeface="Segoe UI"/>
                        </a:rPr>
                        <a:t>Dedicated AKS platform team with own rotation</a:t>
                      </a:r>
                    </a:p>
                  </a:txBody>
                  <a:tcPr marT="27432" marB="27432">
                    <a:solidFill>
                      <a:srgbClr val="F3F7FC"/>
                    </a:solidFill>
                  </a:tcPr>
                </a:tc>
              </a:tr>
              <a:tr h="548640">
                <a:tc>
                  <a:txBody>
                    <a:bodyPr wrap="square"/>
                    <a:lstStyle/>
                    <a:p>
                      <a:r>
                        <a:rPr sz="1100" b="1">
                          <a:solidFill>
                            <a:srgbClr val="323232"/>
                          </a:solidFill>
                          <a:latin typeface="Segoe UI"/>
                        </a:rPr>
                        <a:t>A2 Permissions / security boundary</a:t>
                      </a:r>
                    </a:p>
                  </a:txBody>
                  <a:tcPr marT="27432" marB="27432">
                    <a:solidFill>
                      <a:srgbClr val="FFFFFF"/>
                    </a:solidFill>
                  </a:tcPr>
                </a:tc>
                <a:tc>
                  <a:txBody>
                    <a:bodyPr wrap="square"/>
                    <a:lstStyle/>
                    <a:p>
                      <a:r>
                        <a:rPr sz="1100" b="0">
                          <a:solidFill>
                            <a:srgbClr val="323232"/>
                          </a:solidFill>
                          <a:latin typeface="Segoe UI"/>
                        </a:rPr>
                        <a:t>One identity per agent; custom agents share it</a:t>
                      </a:r>
                    </a:p>
                  </a:txBody>
                  <a:tcPr marT="27432" marB="27432">
                    <a:solidFill>
                      <a:srgbClr val="FFFFFF"/>
                    </a:solidFill>
                  </a:tcPr>
                </a:tc>
                <a:tc>
                  <a:txBody>
                    <a:bodyPr wrap="square"/>
                    <a:lstStyle/>
                    <a:p>
                      <a:r>
                        <a:rPr sz="1100" b="0">
                          <a:solidFill>
                            <a:srgbClr val="323232"/>
                          </a:solidFill>
                          <a:latin typeface="Segoe UI"/>
                        </a:rPr>
                        <a:t>Regulated scope needing distinct identity; future write-capable agent</a:t>
                      </a:r>
                    </a:p>
                  </a:txBody>
                  <a:tcPr marT="27432" marB="27432">
                    <a:solidFill>
                      <a:srgbClr val="FFFFFF"/>
                    </a:solidFill>
                  </a:tcPr>
                </a:tc>
              </a:tr>
              <a:tr h="548640">
                <a:tc>
                  <a:txBody>
                    <a:bodyPr wrap="square"/>
                    <a:lstStyle/>
                    <a:p>
                      <a:r>
                        <a:rPr sz="1100" b="1">
                          <a:solidFill>
                            <a:srgbClr val="323232"/>
                          </a:solidFill>
                          <a:latin typeface="Segoe UI"/>
                        </a:rPr>
                        <a:t>A3 Incident platform</a:t>
                      </a:r>
                    </a:p>
                  </a:txBody>
                  <a:tcPr marT="27432" marB="27432">
                    <a:solidFill>
                      <a:srgbClr val="F3F7FC"/>
                    </a:solidFill>
                  </a:tcPr>
                </a:tc>
                <a:tc>
                  <a:txBody>
                    <a:bodyPr wrap="square"/>
                    <a:lstStyle/>
                    <a:p>
                      <a:r>
                        <a:rPr sz="1100" b="0">
                          <a:solidFill>
                            <a:srgbClr val="323232"/>
                          </a:solidFill>
                          <a:latin typeface="Segoe UI"/>
                        </a:rPr>
                        <a:t>Only one active per agent (Azure Monitor / PagerDuty / ServiceNow)</a:t>
                      </a:r>
                    </a:p>
                  </a:txBody>
                  <a:tcPr marT="27432" marB="27432">
                    <a:solidFill>
                      <a:srgbClr val="F3F7FC"/>
                    </a:solidFill>
                  </a:tcPr>
                </a:tc>
                <a:tc>
                  <a:txBody>
                    <a:bodyPr wrap="square"/>
                    <a:lstStyle/>
                    <a:p>
                      <a:r>
                        <a:rPr sz="1100" b="0">
                          <a:solidFill>
                            <a:srgbClr val="323232"/>
                          </a:solidFill>
                          <a:latin typeface="Segoe UI"/>
                        </a:rPr>
                        <a:t>Platform on ServiceNow, AI team on PagerDuty</a:t>
                      </a:r>
                    </a:p>
                  </a:txBody>
                  <a:tcPr marT="27432" marB="27432">
                    <a:solidFill>
                      <a:srgbClr val="F3F7FC"/>
                    </a:solidFill>
                  </a:tcPr>
                </a:tc>
              </a:tr>
              <a:tr h="548640">
                <a:tc>
                  <a:txBody>
                    <a:bodyPr wrap="square"/>
                    <a:lstStyle/>
                    <a:p>
                      <a:r>
                        <a:rPr sz="1100" b="1">
                          <a:solidFill>
                            <a:srgbClr val="323232"/>
                          </a:solidFill>
                          <a:latin typeface="Segoe UI"/>
                        </a:rPr>
                        <a:t>A4 Model &amp; data residency</a:t>
                      </a:r>
                    </a:p>
                  </a:txBody>
                  <a:tcPr marT="27432" marB="27432">
                    <a:solidFill>
                      <a:srgbClr val="FFFFFF"/>
                    </a:solidFill>
                  </a:tcPr>
                </a:tc>
                <a:tc>
                  <a:txBody>
                    <a:bodyPr wrap="square"/>
                    <a:lstStyle/>
                    <a:p>
                      <a:r>
                        <a:rPr sz="1100" b="0">
                          <a:solidFill>
                            <a:srgbClr val="323232"/>
                          </a:solidFill>
                          <a:latin typeface="Segoe UI"/>
                        </a:rPr>
                        <a:t>Model provider set per agent; EUDB needs Azure OpenAI</a:t>
                      </a:r>
                    </a:p>
                  </a:txBody>
                  <a:tcPr marT="27432" marB="27432">
                    <a:solidFill>
                      <a:srgbClr val="FFFFFF"/>
                    </a:solidFill>
                  </a:tcPr>
                </a:tc>
                <a:tc>
                  <a:txBody>
                    <a:bodyPr wrap="square"/>
                    <a:lstStyle/>
                    <a:p>
                      <a:r>
                        <a:rPr sz="1100" b="0">
                          <a:solidFill>
                            <a:srgbClr val="323232"/>
                          </a:solidFill>
                          <a:latin typeface="Segoe UI"/>
                        </a:rPr>
                        <a:t>EUDB-bound scope next to global-provider team</a:t>
                      </a:r>
                    </a:p>
                  </a:txBody>
                  <a:tcPr marT="27432" marB="27432">
                    <a:solidFill>
                      <a:srgbClr val="FFFFFF"/>
                    </a:solidFill>
                  </a:tcPr>
                </a:tc>
              </a:tr>
              <a:tr h="548640">
                <a:tc>
                  <a:txBody>
                    <a:bodyPr wrap="square"/>
                    <a:lstStyle/>
                    <a:p>
                      <a:r>
                        <a:rPr sz="1100" b="1">
                          <a:solidFill>
                            <a:srgbClr val="323232"/>
                          </a:solidFill>
                          <a:latin typeface="Segoe UI"/>
                        </a:rPr>
                        <a:t>A5 Budget</a:t>
                      </a:r>
                    </a:p>
                  </a:txBody>
                  <a:tcPr marT="27432" marB="27432">
                    <a:solidFill>
                      <a:srgbClr val="F3F7FC"/>
                    </a:solidFill>
                  </a:tcPr>
                </a:tc>
                <a:tc>
                  <a:txBody>
                    <a:bodyPr wrap="square"/>
                    <a:lstStyle/>
                    <a:p>
                      <a:r>
                        <a:rPr sz="1100" b="0">
                          <a:solidFill>
                            <a:srgbClr val="323232"/>
                          </a:solidFill>
                          <a:latin typeface="Segoe UI"/>
                        </a:rPr>
                        <a:t>Monthly AAU cap/allocation set per agent</a:t>
                      </a:r>
                    </a:p>
                  </a:txBody>
                  <a:tcPr marT="27432" marB="27432">
                    <a:solidFill>
                      <a:srgbClr val="F3F7FC"/>
                    </a:solidFill>
                  </a:tcPr>
                </a:tc>
                <a:tc>
                  <a:txBody>
                    <a:bodyPr wrap="square"/>
                    <a:lstStyle/>
                    <a:p>
                      <a:r>
                        <a:rPr sz="1100" b="0">
                          <a:solidFill>
                            <a:srgbClr val="323232"/>
                          </a:solidFill>
                          <a:latin typeface="Segoe UI"/>
                        </a:rPr>
                        <a:t>FinOps requires separate cost center or cap</a:t>
                      </a:r>
                    </a:p>
                  </a:txBody>
                  <a:tcPr marT="27432" marB="27432">
                    <a:solidFill>
                      <a:srgbClr val="F3F7FC"/>
                    </a:solidFill>
                  </a:tcPr>
                </a:tc>
              </a:tr>
              <a:tr h="548640">
                <a:tc>
                  <a:txBody>
                    <a:bodyPr wrap="square"/>
                    <a:lstStyle/>
                    <a:p>
                      <a:r>
                        <a:rPr sz="1100" b="1">
                          <a:solidFill>
                            <a:srgbClr val="323232"/>
                          </a:solidFill>
                          <a:latin typeface="Segoe UI"/>
                        </a:rPr>
                        <a:t>A6 Tenant (kit)</a:t>
                      </a:r>
                    </a:p>
                  </a:txBody>
                  <a:tcPr marT="27432" marB="27432">
                    <a:solidFill>
                      <a:srgbClr val="FFFFFF"/>
                    </a:solidFill>
                  </a:tcPr>
                </a:tc>
                <a:tc>
                  <a:txBody>
                    <a:bodyPr wrap="square"/>
                    <a:lstStyle/>
                    <a:p>
                      <a:r>
                        <a:rPr sz="1100" b="0">
                          <a:solidFill>
                            <a:srgbClr val="323232"/>
                          </a:solidFill>
                          <a:latin typeface="Segoe UI"/>
                        </a:rPr>
                        <a:t>Identity and RBAC anchored in one Entra tenant</a:t>
                      </a:r>
                    </a:p>
                  </a:txBody>
                  <a:tcPr marT="27432" marB="27432">
                    <a:solidFill>
                      <a:srgbClr val="FFFFFF"/>
                    </a:solidFill>
                  </a:tcPr>
                </a:tc>
                <a:tc>
                  <a:txBody>
                    <a:bodyPr wrap="square"/>
                    <a:lstStyle/>
                    <a:p>
                      <a:r>
                        <a:rPr sz="1100" b="0">
                          <a:solidFill>
                            <a:srgbClr val="323232"/>
                          </a:solidFill>
                          <a:latin typeface="Segoe UI"/>
                        </a:rPr>
                        <a:t>Subsidiary or OT/critical-infra tenant</a:t>
                      </a:r>
                    </a:p>
                  </a:txBody>
                  <a:tcPr marT="27432" marB="27432">
                    <a:solidFill>
                      <a:srgbClr val="FFFFFF"/>
                    </a:solidFill>
                  </a:tcPr>
                </a:tc>
              </a:tr>
              <a:tr h="548640">
                <a:tc>
                  <a:txBody>
                    <a:bodyPr wrap="square"/>
                    <a:lstStyle/>
                    <a:p>
                      <a:r>
                        <a:rPr sz="1100" b="1">
                          <a:solidFill>
                            <a:srgbClr val="323232"/>
                          </a:solidFill>
                          <a:latin typeface="Segoe UI"/>
                        </a:rPr>
                        <a:t>A7 Hosting region / network (kit)</a:t>
                      </a:r>
                    </a:p>
                  </a:txBody>
                  <a:tcPr marT="27432" marB="27432">
                    <a:solidFill>
                      <a:srgbClr val="F3F7FC"/>
                    </a:solidFill>
                  </a:tcPr>
                </a:tc>
                <a:tc>
                  <a:txBody>
                    <a:bodyPr wrap="square"/>
                    <a:lstStyle/>
                    <a:p>
                      <a:r>
                        <a:rPr sz="1100" b="0">
                          <a:solidFill>
                            <a:srgbClr val="323232"/>
                          </a:solidFill>
                          <a:latin typeface="Segoe UI"/>
                        </a:rPr>
                        <a:t>Region immutable; network/VNet config per agent, same region</a:t>
                      </a:r>
                    </a:p>
                  </a:txBody>
                  <a:tcPr marT="27432" marB="27432">
                    <a:solidFill>
                      <a:srgbClr val="F3F7FC"/>
                    </a:solidFill>
                  </a:tcPr>
                </a:tc>
                <a:tc>
                  <a:txBody>
                    <a:bodyPr wrap="square"/>
                    <a:lstStyle/>
                    <a:p>
                      <a:r>
                        <a:rPr sz="1100" b="0">
                          <a:solidFill>
                            <a:srgbClr val="323232"/>
                          </a:solidFill>
                          <a:latin typeface="Segoe UI"/>
                        </a:rPr>
                        <a:t>Residency-driven region; private AKS path</a:t>
                      </a:r>
                    </a:p>
                  </a:txBody>
                  <a:tcPr marT="27432" marB="27432">
                    <a:solidFill>
                      <a:srgbClr val="F3F7FC"/>
                    </a:solidFill>
                  </a:tcPr>
                </a:tc>
              </a:tr>
            </a:tbl>
          </a:graphicData>
        </a:graphic>
      </p:graphicFrame>
      <p:sp>
        <p:nvSpPr>
          <p:cNvPr id="5" name="TextBox 4"/>
          <p:cNvSpPr txBox="1"/>
          <p:nvPr/>
        </p:nvSpPr>
        <p:spPr>
          <a:xfrm>
            <a:off x="731520" y="5760720"/>
            <a:ext cx="10728960" cy="400000"/>
          </a:xfrm>
          <a:prstGeom prst="rect">
            <a:avLst/>
          </a:prstGeom>
          <a:noFill/>
        </p:spPr>
        <p:txBody>
          <a:bodyPr wrap="square">
            <a:spAutoFit/>
          </a:bodyPr>
          <a:lstStyle/>
          <a:p>
            <a:r>
              <a:rPr sz="1200" b="1">
                <a:solidFill>
                  <a:srgbClr val="0078D4"/>
                </a:solidFill>
                <a:latin typeface="Segoe UI"/>
              </a:rPr>
              <a:t>Prod vs test: combine while read-only + Review; separate once write access or Autonomous plans apply (A2). Never a reason alone: new use case, subscription, landing zone, region.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Trigger guide: new use case or new agent?</a:t>
            </a:r>
          </a:p>
        </p:txBody>
      </p:sp>
      <p:sp>
        <p:nvSpPr>
          <p:cNvPr id="4" name="TextBox 3"/>
          <p:cNvSpPr txBox="1"/>
          <p:nvPr/>
        </p:nvSpPr>
        <p:spPr>
          <a:xfrm>
            <a:off x="457200" y="1188720"/>
            <a:ext cx="5303520" cy="457200"/>
          </a:xfrm>
          <a:prstGeom prst="rect">
            <a:avLst/>
          </a:prstGeom>
          <a:noFill/>
        </p:spPr>
        <p:txBody>
          <a:bodyPr wrap="none">
            <a:spAutoFit/>
          </a:bodyPr>
          <a:lstStyle/>
          <a:p>
            <a:r>
              <a:rPr sz="1700" b="1">
                <a:solidFill>
                  <a:srgbClr val="0078D4"/>
                </a:solidFill>
                <a:latin typeface="Segoe UI"/>
              </a:rPr>
              <a:t>New use case - same agent</a:t>
            </a:r>
          </a:p>
        </p:txBody>
      </p:sp>
      <p:sp>
        <p:nvSpPr>
          <p:cNvPr id="5" name="TextBox 4"/>
          <p:cNvSpPr txBox="1"/>
          <p:nvPr/>
        </p:nvSpPr>
        <p:spPr>
          <a:xfrm>
            <a:off x="457200" y="1688720"/>
            <a:ext cx="5303520" cy="4572000"/>
          </a:xfrm>
          <a:prstGeom prst="rect">
            <a:avLst/>
          </a:prstGeom>
          <a:noFill/>
        </p:spPr>
        <p:txBody>
          <a:bodyPr wrap="square">
            <a:spAutoFit/>
          </a:bodyPr>
          <a:lstStyle/>
          <a:p>
            <a:pPr>
              <a:spcBef>
                <a:spcPts val="500"/>
              </a:spcBef>
            </a:pPr>
            <a:r>
              <a:rPr sz="1200" b="0">
                <a:solidFill>
                  <a:srgbClr val="323232"/>
                </a:solidFill>
                <a:latin typeface="Segoe UI"/>
              </a:rPr>
              <a:t>• New signal/alert type -&gt; response plan with severity/service filter</a:t>
            </a:r>
          </a:p>
          <a:p>
            <a:pPr>
              <a:spcBef>
                <a:spcPts val="500"/>
              </a:spcBef>
            </a:pPr>
            <a:r>
              <a:rPr sz="1200" b="0">
                <a:solidFill>
                  <a:srgbClr val="323232"/>
                </a:solidFill>
                <a:latin typeface="Segoe UI"/>
              </a:rPr>
              <a:t>• New domain expertise or tools (network, AKS, AI, backup, cost) -&gt; custom agent</a:t>
            </a:r>
          </a:p>
          <a:p>
            <a:pPr>
              <a:spcBef>
                <a:spcPts val="500"/>
              </a:spcBef>
            </a:pPr>
            <a:r>
              <a:rPr sz="1200" b="0">
                <a:solidFill>
                  <a:srgbClr val="323232"/>
                </a:solidFill>
                <a:latin typeface="Segoe UI"/>
              </a:rPr>
              <a:t>• New recurring check/report -&gt; scheduled task (Review mode)</a:t>
            </a:r>
          </a:p>
          <a:p>
            <a:pPr>
              <a:spcBef>
                <a:spcPts val="500"/>
              </a:spcBef>
            </a:pPr>
            <a:r>
              <a:rPr sz="1200" b="0">
                <a:solidFill>
                  <a:srgbClr val="323232"/>
                </a:solidFill>
                <a:latin typeface="Segoe UI"/>
              </a:rPr>
              <a:t>• New runbook or reference -&gt; knowledge file / skill</a:t>
            </a:r>
          </a:p>
          <a:p>
            <a:pPr>
              <a:spcBef>
                <a:spcPts val="500"/>
              </a:spcBef>
            </a:pPr>
            <a:r>
              <a:rPr sz="1200" b="0">
                <a:solidFill>
                  <a:srgbClr val="323232"/>
                </a:solidFill>
                <a:latin typeface="Segoe UI"/>
              </a:rPr>
              <a:t>• New owner, KPI or acceptance test in same team -&gt; use-case record</a:t>
            </a:r>
          </a:p>
          <a:p>
            <a:pPr>
              <a:spcBef>
                <a:spcPts val="500"/>
              </a:spcBef>
            </a:pPr>
            <a:r>
              <a:rPr sz="1200" b="0">
                <a:solidFill>
                  <a:srgbClr val="323232"/>
                </a:solidFill>
                <a:latin typeface="Segoe UI"/>
              </a:rPr>
              <a:t>• New subscription / RG / region -&gt; add scope + negative access test</a:t>
            </a:r>
          </a:p>
        </p:txBody>
      </p:sp>
      <p:sp>
        <p:nvSpPr>
          <p:cNvPr id="6" name="TextBox 5"/>
          <p:cNvSpPr txBox="1"/>
          <p:nvPr/>
        </p:nvSpPr>
        <p:spPr>
          <a:xfrm>
            <a:off x="6400800" y="1188720"/>
            <a:ext cx="5303520" cy="457200"/>
          </a:xfrm>
          <a:prstGeom prst="rect">
            <a:avLst/>
          </a:prstGeom>
          <a:noFill/>
        </p:spPr>
        <p:txBody>
          <a:bodyPr wrap="none">
            <a:spAutoFit/>
          </a:bodyPr>
          <a:lstStyle/>
          <a:p>
            <a:r>
              <a:rPr sz="1700" b="1">
                <a:solidFill>
                  <a:srgbClr val="0078D4"/>
                </a:solidFill>
                <a:latin typeface="Segoe UI"/>
              </a:rPr>
              <a:t>Separate agent - only if different</a:t>
            </a:r>
          </a:p>
        </p:txBody>
      </p:sp>
      <p:sp>
        <p:nvSpPr>
          <p:cNvPr id="7" name="TextBox 6"/>
          <p:cNvSpPr txBox="1"/>
          <p:nvPr/>
        </p:nvSpPr>
        <p:spPr>
          <a:xfrm>
            <a:off x="6400800" y="1688720"/>
            <a:ext cx="5303520" cy="4572000"/>
          </a:xfrm>
          <a:prstGeom prst="rect">
            <a:avLst/>
          </a:prstGeom>
          <a:noFill/>
        </p:spPr>
        <p:txBody>
          <a:bodyPr wrap="square">
            <a:spAutoFit/>
          </a:bodyPr>
          <a:lstStyle/>
          <a:p>
            <a:pPr>
              <a:spcBef>
                <a:spcPts val="500"/>
              </a:spcBef>
            </a:pPr>
            <a:r>
              <a:rPr sz="1200" b="0">
                <a:solidFill>
                  <a:srgbClr val="323232"/>
                </a:solidFill>
                <a:latin typeface="Segoe UI"/>
              </a:rPr>
              <a:t>• A1 Team &amp; on-call</a:t>
            </a:r>
          </a:p>
          <a:p>
            <a:pPr>
              <a:spcBef>
                <a:spcPts val="500"/>
              </a:spcBef>
            </a:pPr>
            <a:r>
              <a:rPr sz="1200" b="0">
                <a:solidFill>
                  <a:srgbClr val="323232"/>
                </a:solidFill>
                <a:latin typeface="Segoe UI"/>
              </a:rPr>
              <a:t>• A2 Permissions / security boundary (identity, approvers)</a:t>
            </a:r>
          </a:p>
          <a:p>
            <a:pPr>
              <a:spcBef>
                <a:spcPts val="500"/>
              </a:spcBef>
            </a:pPr>
            <a:r>
              <a:rPr sz="1200" b="0">
                <a:solidFill>
                  <a:srgbClr val="323232"/>
                </a:solidFill>
                <a:latin typeface="Segoe UI"/>
              </a:rPr>
              <a:t>• A3 Incident platform</a:t>
            </a:r>
          </a:p>
          <a:p>
            <a:pPr>
              <a:spcBef>
                <a:spcPts val="500"/>
              </a:spcBef>
            </a:pPr>
            <a:r>
              <a:rPr sz="1200" b="0">
                <a:solidFill>
                  <a:srgbClr val="323232"/>
                </a:solidFill>
                <a:latin typeface="Segoe UI"/>
              </a:rPr>
              <a:t>• A4 Model provider &amp; data residency</a:t>
            </a:r>
          </a:p>
          <a:p>
            <a:pPr>
              <a:spcBef>
                <a:spcPts val="500"/>
              </a:spcBef>
            </a:pPr>
            <a:r>
              <a:rPr sz="1200" b="0">
                <a:solidFill>
                  <a:srgbClr val="323232"/>
                </a:solidFill>
                <a:latin typeface="Segoe UI"/>
              </a:rPr>
              <a:t>• A5 Budget / AAU cap</a:t>
            </a:r>
          </a:p>
          <a:p>
            <a:pPr>
              <a:spcBef>
                <a:spcPts val="500"/>
              </a:spcBef>
            </a:pPr>
            <a:r>
              <a:rPr sz="1200" b="0">
                <a:solidFill>
                  <a:srgbClr val="323232"/>
                </a:solidFill>
                <a:latin typeface="Segoe UI"/>
              </a:rPr>
              <a:t>• A6 Tenant  |  A7 Hosting region / network path</a:t>
            </a:r>
          </a:p>
          <a:p>
            <a:pPr>
              <a:spcBef>
                <a:spcPts val="500"/>
              </a:spcBef>
            </a:pPr>
            <a:r>
              <a:rPr sz="1200" b="0">
                <a:solidFill>
                  <a:srgbClr val="323232"/>
                </a:solidFill>
                <a:latin typeface="Segoe UI"/>
              </a:rPr>
              <a:t>• Record trigger, owner and fixed-cost approval</a:t>
            </a:r>
          </a:p>
        </p:txBody>
      </p:sp>
      <p:sp>
        <p:nvSpPr>
          <p:cNvPr id="8" name="Rectangle 7"/>
          <p:cNvSpPr/>
          <p:nvPr/>
        </p:nvSpPr>
        <p:spPr>
          <a:xfrm>
            <a:off x="731520" y="5303520"/>
            <a:ext cx="10728960" cy="640080"/>
          </a:xfrm>
          <a:prstGeom prst="rect">
            <a:avLst/>
          </a:prstGeom>
          <a:solidFill>
            <a:srgbClr val="E6F1FB"/>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078D4"/>
                </a:solidFill>
                <a:latin typeface="Segoe UI"/>
              </a:rPr>
              <a:t>Prod vs test: combine while read-only + Review; separate once write access or Autonomous plans apply (A2). Never a reason alone: new use case, subscription, landing zone, region.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Use-case placement: combine or separate</a:t>
            </a:r>
          </a:p>
        </p:txBody>
      </p:sp>
      <p:graphicFrame>
        <p:nvGraphicFramePr>
          <p:cNvPr id="4" name="Table 3"/>
          <p:cNvGraphicFramePr>
            <a:graphicFrameLocks noGrp="1"/>
          </p:cNvGraphicFramePr>
          <p:nvPr/>
        </p:nvGraphicFramePr>
        <p:xfrm>
          <a:off x="655167" y="1188720"/>
          <a:ext cx="10881360" cy="4736592"/>
        </p:xfrm>
        <a:graphic>
          <a:graphicData uri="http://schemas.openxmlformats.org/drawingml/2006/table">
            <a:tbl>
              <a:tblPr firstRow="1" bandRow="1">
                <a:tableStyleId>{5C22544A-7EE6-4342-B048-85BDC9FD1C3A}</a:tableStyleId>
              </a:tblPr>
              <a:tblGrid>
                <a:gridCol w="3017520"/>
                <a:gridCol w="3931920"/>
                <a:gridCol w="3931920"/>
              </a:tblGrid>
              <a:tr h="338328">
                <a:tc>
                  <a:txBody>
                    <a:bodyPr wrap="square"/>
                    <a:lstStyle/>
                    <a:p>
                      <a:r>
                        <a:rPr sz="1100" b="1">
                          <a:solidFill>
                            <a:srgbClr val="FFFFFF"/>
                          </a:solidFill>
                          <a:latin typeface="Segoe UI"/>
                        </a:rPr>
                        <a:t>Use case</a:t>
                      </a:r>
                    </a:p>
                  </a:txBody>
                  <a:tcPr marT="27432" marB="27432">
                    <a:solidFill>
                      <a:srgbClr val="0078D4"/>
                    </a:solidFill>
                  </a:tcPr>
                </a:tc>
                <a:tc>
                  <a:txBody>
                    <a:bodyPr wrap="square"/>
                    <a:lstStyle/>
                    <a:p>
                      <a:r>
                        <a:rPr sz="1100" b="1">
                          <a:solidFill>
                            <a:srgbClr val="FFFFFF"/>
                          </a:solidFill>
                          <a:latin typeface="Segoe UI"/>
                        </a:rPr>
                        <a:t>Placement (default agent / custom agent)</a:t>
                      </a:r>
                    </a:p>
                  </a:txBody>
                  <a:tcPr marT="27432" marB="27432">
                    <a:solidFill>
                      <a:srgbClr val="0078D4"/>
                    </a:solidFill>
                  </a:tcPr>
                </a:tc>
                <a:tc>
                  <a:txBody>
                    <a:bodyPr wrap="square"/>
                    <a:lstStyle/>
                    <a:p>
                      <a:r>
                        <a:rPr sz="1100" b="1">
                          <a:solidFill>
                            <a:srgbClr val="FFFFFF"/>
                          </a:solidFill>
                          <a:latin typeface="Segoe UI"/>
                        </a:rPr>
                        <a:t>Separate agent only if</a:t>
                      </a:r>
                    </a:p>
                  </a:txBody>
                  <a:tcPr marT="27432" marB="27432">
                    <a:solidFill>
                      <a:srgbClr val="0078D4"/>
                    </a:solidFill>
                  </a:tcPr>
                </a:tc>
              </a:tr>
              <a:tr h="338328">
                <a:tc>
                  <a:txBody>
                    <a:bodyPr wrap="square"/>
                    <a:lstStyle/>
                    <a:p>
                      <a:r>
                        <a:rPr sz="1000" b="1">
                          <a:solidFill>
                            <a:srgbClr val="323232"/>
                          </a:solidFill>
                          <a:latin typeface="Segoe UI"/>
                        </a:rPr>
                        <a:t>UC01 Vending failure</a:t>
                      </a:r>
                    </a:p>
                  </a:txBody>
                  <a:tcPr marT="27432" marB="27432">
                    <a:solidFill>
                      <a:srgbClr val="F3F7FC"/>
                    </a:solidFill>
                  </a:tcPr>
                </a:tc>
                <a:tc>
                  <a:txBody>
                    <a:bodyPr wrap="square"/>
                    <a:lstStyle/>
                    <a:p>
                      <a:r>
                        <a:rPr sz="1000" b="0">
                          <a:solidFill>
                            <a:srgbClr val="323232"/>
                          </a:solidFill>
                          <a:latin typeface="Segoe UI"/>
                        </a:rPr>
                        <a:t>Combine - vending-governance</a:t>
                      </a:r>
                    </a:p>
                  </a:txBody>
                  <a:tcPr marT="27432" marB="27432">
                    <a:solidFill>
                      <a:srgbClr val="F3F7FC"/>
                    </a:solidFill>
                  </a:tcPr>
                </a:tc>
                <a:tc>
                  <a:txBody>
                    <a:bodyPr wrap="square"/>
                    <a:lstStyle/>
                    <a:p>
                      <a:r>
                        <a:rPr sz="1000" b="0">
                          <a:solidFill>
                            <a:srgbClr val="323232"/>
                          </a:solidFill>
                          <a:latin typeface="Segoe UI"/>
                        </a:rPr>
                        <a:t>Vending team has own on-call (A1)</a:t>
                      </a:r>
                    </a:p>
                  </a:txBody>
                  <a:tcPr marT="27432" marB="27432">
                    <a:solidFill>
                      <a:srgbClr val="F3F7FC"/>
                    </a:solidFill>
                  </a:tcPr>
                </a:tc>
              </a:tr>
              <a:tr h="338328">
                <a:tc>
                  <a:txBody>
                    <a:bodyPr wrap="square"/>
                    <a:lstStyle/>
                    <a:p>
                      <a:r>
                        <a:rPr sz="1000" b="1">
                          <a:solidFill>
                            <a:srgbClr val="323232"/>
                          </a:solidFill>
                          <a:latin typeface="Segoe UI"/>
                        </a:rPr>
                        <a:t>UC02 Readiness &amp; drift</a:t>
                      </a:r>
                    </a:p>
                  </a:txBody>
                  <a:tcPr marT="27432" marB="27432">
                    <a:solidFill>
                      <a:srgbClr val="FFFFFF"/>
                    </a:solidFill>
                  </a:tcPr>
                </a:tc>
                <a:tc>
                  <a:txBody>
                    <a:bodyPr wrap="square"/>
                    <a:lstStyle/>
                    <a:p>
                      <a:r>
                        <a:rPr sz="1000" b="0">
                          <a:solidFill>
                            <a:srgbClr val="323232"/>
                          </a:solidFill>
                          <a:latin typeface="Segoe UI"/>
                        </a:rPr>
                        <a:t>Combine - vending-governance (task)</a:t>
                      </a:r>
                    </a:p>
                  </a:txBody>
                  <a:tcPr marT="27432" marB="27432">
                    <a:solidFill>
                      <a:srgbClr val="FFFFFF"/>
                    </a:solidFill>
                  </a:tcPr>
                </a:tc>
                <a:tc>
                  <a:txBody>
                    <a:bodyPr wrap="square"/>
                    <a:lstStyle/>
                    <a:p>
                      <a:r>
                        <a:rPr sz="1000" b="0">
                          <a:solidFill>
                            <a:srgbClr val="323232"/>
                          </a:solidFill>
                          <a:latin typeface="Segoe UI"/>
                        </a:rPr>
                        <a:t>Prod split once write/Autonomous (A2)</a:t>
                      </a:r>
                    </a:p>
                  </a:txBody>
                  <a:tcPr marT="27432" marB="27432">
                    <a:solidFill>
                      <a:srgbClr val="FFFFFF"/>
                    </a:solidFill>
                  </a:tcPr>
                </a:tc>
              </a:tr>
              <a:tr h="338328">
                <a:tc>
                  <a:txBody>
                    <a:bodyPr wrap="square"/>
                    <a:lstStyle/>
                    <a:p>
                      <a:r>
                        <a:rPr sz="1000" b="1">
                          <a:solidFill>
                            <a:srgbClr val="323232"/>
                          </a:solidFill>
                          <a:latin typeface="Segoe UI"/>
                        </a:rPr>
                        <a:t>UC03 DNS / private connectivity</a:t>
                      </a:r>
                    </a:p>
                  </a:txBody>
                  <a:tcPr marT="27432" marB="27432">
                    <a:solidFill>
                      <a:srgbClr val="F3F7FC"/>
                    </a:solidFill>
                  </a:tcPr>
                </a:tc>
                <a:tc>
                  <a:txBody>
                    <a:bodyPr wrap="square"/>
                    <a:lstStyle/>
                    <a:p>
                      <a:r>
                        <a:rPr sz="1000" b="0">
                          <a:solidFill>
                            <a:srgbClr val="323232"/>
                          </a:solidFill>
                          <a:latin typeface="Segoe UI"/>
                        </a:rPr>
                        <a:t>Combine - network</a:t>
                      </a:r>
                    </a:p>
                  </a:txBody>
                  <a:tcPr marT="27432" marB="27432">
                    <a:solidFill>
                      <a:srgbClr val="F3F7FC"/>
                    </a:solidFill>
                  </a:tcPr>
                </a:tc>
                <a:tc>
                  <a:txBody>
                    <a:bodyPr wrap="square"/>
                    <a:lstStyle/>
                    <a:p>
                      <a:r>
                        <a:rPr sz="1000" b="0">
                          <a:solidFill>
                            <a:srgbClr val="323232"/>
                          </a:solidFill>
                          <a:latin typeface="Segoe UI"/>
                        </a:rPr>
                        <a:t>Separate network team / incident platform (A1/A3)</a:t>
                      </a:r>
                    </a:p>
                  </a:txBody>
                  <a:tcPr marT="27432" marB="27432">
                    <a:solidFill>
                      <a:srgbClr val="F3F7FC"/>
                    </a:solidFill>
                  </a:tcPr>
                </a:tc>
              </a:tr>
              <a:tr h="338328">
                <a:tc>
                  <a:txBody>
                    <a:bodyPr wrap="square"/>
                    <a:lstStyle/>
                    <a:p>
                      <a:r>
                        <a:rPr sz="1000" b="1">
                          <a:solidFill>
                            <a:srgbClr val="323232"/>
                          </a:solidFill>
                          <a:latin typeface="Segoe UI"/>
                        </a:rPr>
                        <a:t>UC04 Change correlation</a:t>
                      </a:r>
                    </a:p>
                  </a:txBody>
                  <a:tcPr marT="27432" marB="27432">
                    <a:solidFill>
                      <a:srgbClr val="FFFFFF"/>
                    </a:solidFill>
                  </a:tcPr>
                </a:tc>
                <a:tc>
                  <a:txBody>
                    <a:bodyPr wrap="square"/>
                    <a:lstStyle/>
                    <a:p>
                      <a:r>
                        <a:rPr sz="1000" b="0">
                          <a:solidFill>
                            <a:srgbClr val="323232"/>
                          </a:solidFill>
                          <a:latin typeface="Segoe UI"/>
                        </a:rPr>
                        <a:t>Combine - orchestrator</a:t>
                      </a:r>
                    </a:p>
                  </a:txBody>
                  <a:tcPr marT="27432" marB="27432">
                    <a:solidFill>
                      <a:srgbClr val="FFFFFF"/>
                    </a:solidFill>
                  </a:tcPr>
                </a:tc>
                <a:tc>
                  <a:txBody>
                    <a:bodyPr wrap="square"/>
                    <a:lstStyle/>
                    <a:p>
                      <a:r>
                        <a:rPr sz="1000" b="0">
                          <a:solidFill>
                            <a:srgbClr val="323232"/>
                          </a:solidFill>
                          <a:latin typeface="Segoe UI"/>
                        </a:rPr>
                        <a:t>No - needs shared context</a:t>
                      </a:r>
                    </a:p>
                  </a:txBody>
                  <a:tcPr marT="27432" marB="27432">
                    <a:solidFill>
                      <a:srgbClr val="FFFFFF"/>
                    </a:solidFill>
                  </a:tcPr>
                </a:tc>
              </a:tr>
              <a:tr h="338328">
                <a:tc>
                  <a:txBody>
                    <a:bodyPr wrap="square"/>
                    <a:lstStyle/>
                    <a:p>
                      <a:r>
                        <a:rPr sz="1000" b="1">
                          <a:solidFill>
                            <a:srgbClr val="323232"/>
                          </a:solidFill>
                          <a:latin typeface="Segoe UI"/>
                        </a:rPr>
                        <a:t>UC05 Monitoring blind spots</a:t>
                      </a:r>
                    </a:p>
                  </a:txBody>
                  <a:tcPr marT="27432" marB="27432">
                    <a:solidFill>
                      <a:srgbClr val="F3F7FC"/>
                    </a:solidFill>
                  </a:tcPr>
                </a:tc>
                <a:tc>
                  <a:txBody>
                    <a:bodyPr wrap="square"/>
                    <a:lstStyle/>
                    <a:p>
                      <a:r>
                        <a:rPr sz="1000" b="0">
                          <a:solidFill>
                            <a:srgbClr val="323232"/>
                          </a:solidFill>
                          <a:latin typeface="Segoe UI"/>
                        </a:rPr>
                        <a:t>Combine - observability (task)</a:t>
                      </a:r>
                    </a:p>
                  </a:txBody>
                  <a:tcPr marT="27432" marB="27432">
                    <a:solidFill>
                      <a:srgbClr val="F3F7FC"/>
                    </a:solidFill>
                  </a:tcPr>
                </a:tc>
                <a:tc>
                  <a:txBody>
                    <a:bodyPr wrap="square"/>
                    <a:lstStyle/>
                    <a:p>
                      <a:r>
                        <a:rPr sz="1000" b="0">
                          <a:solidFill>
                            <a:srgbClr val="323232"/>
                          </a:solidFill>
                          <a:latin typeface="Segoe UI"/>
                        </a:rPr>
                        <a:t>No</a:t>
                      </a:r>
                    </a:p>
                  </a:txBody>
                  <a:tcPr marT="27432" marB="27432">
                    <a:solidFill>
                      <a:srgbClr val="F3F7FC"/>
                    </a:solidFill>
                  </a:tcPr>
                </a:tc>
              </a:tr>
              <a:tr h="338328">
                <a:tc>
                  <a:txBody>
                    <a:bodyPr wrap="square"/>
                    <a:lstStyle/>
                    <a:p>
                      <a:r>
                        <a:rPr sz="1000" b="1">
                          <a:solidFill>
                            <a:srgbClr val="323232"/>
                          </a:solidFill>
                          <a:latin typeface="Segoe UI"/>
                        </a:rPr>
                        <a:t>UC06 AI LZ onboarding</a:t>
                      </a:r>
                    </a:p>
                  </a:txBody>
                  <a:tcPr marT="27432" marB="27432">
                    <a:solidFill>
                      <a:srgbClr val="FFFFFF"/>
                    </a:solidFill>
                  </a:tcPr>
                </a:tc>
                <a:tc>
                  <a:txBody>
                    <a:bodyPr wrap="square"/>
                    <a:lstStyle/>
                    <a:p>
                      <a:r>
                        <a:rPr sz="1000" b="0">
                          <a:solidFill>
                            <a:srgbClr val="323232"/>
                          </a:solidFill>
                          <a:latin typeface="Segoe UI"/>
                        </a:rPr>
                        <a:t>Combine (conditional) - ai-platform</a:t>
                      </a:r>
                    </a:p>
                  </a:txBody>
                  <a:tcPr marT="27432" marB="27432">
                    <a:solidFill>
                      <a:srgbClr val="FFFFFF"/>
                    </a:solidFill>
                  </a:tcPr>
                </a:tc>
                <a:tc>
                  <a:txBody>
                    <a:bodyPr wrap="square"/>
                    <a:lstStyle/>
                    <a:p>
                      <a:r>
                        <a:rPr sz="1000" b="0">
                          <a:solidFill>
                            <a:srgbClr val="323232"/>
                          </a:solidFill>
                          <a:latin typeface="Segoe UI"/>
                        </a:rPr>
                        <a:t>Separate AI team, model/residency, boundary (A1/A4/A2)</a:t>
                      </a:r>
                    </a:p>
                  </a:txBody>
                  <a:tcPr marT="27432" marB="27432">
                    <a:solidFill>
                      <a:srgbClr val="FFFFFF"/>
                    </a:solidFill>
                  </a:tcPr>
                </a:tc>
              </a:tr>
              <a:tr h="338328">
                <a:tc>
                  <a:txBody>
                    <a:bodyPr wrap="square"/>
                    <a:lstStyle/>
                    <a:p>
                      <a:r>
                        <a:rPr sz="1000" b="1">
                          <a:solidFill>
                            <a:srgbClr val="323232"/>
                          </a:solidFill>
                          <a:latin typeface="Segoe UI"/>
                        </a:rPr>
                        <a:t>UC07 AI capacity/throttling</a:t>
                      </a:r>
                    </a:p>
                  </a:txBody>
                  <a:tcPr marT="27432" marB="27432">
                    <a:solidFill>
                      <a:srgbClr val="F3F7FC"/>
                    </a:solidFill>
                  </a:tcPr>
                </a:tc>
                <a:tc>
                  <a:txBody>
                    <a:bodyPr wrap="square"/>
                    <a:lstStyle/>
                    <a:p>
                      <a:r>
                        <a:rPr sz="1000" b="0">
                          <a:solidFill>
                            <a:srgbClr val="323232"/>
                          </a:solidFill>
                          <a:latin typeface="Segoe UI"/>
                        </a:rPr>
                        <a:t>Combine with UC06 - ai-platform</a:t>
                      </a:r>
                    </a:p>
                  </a:txBody>
                  <a:tcPr marT="27432" marB="27432">
                    <a:solidFill>
                      <a:srgbClr val="F3F7FC"/>
                    </a:solidFill>
                  </a:tcPr>
                </a:tc>
                <a:tc>
                  <a:txBody>
                    <a:bodyPr wrap="square"/>
                    <a:lstStyle/>
                    <a:p>
                      <a:r>
                        <a:rPr sz="1000" b="0">
                          <a:solidFill>
                            <a:srgbClr val="323232"/>
                          </a:solidFill>
                          <a:latin typeface="Segoe UI"/>
                        </a:rPr>
                        <a:t>As UC06; keep with UC06</a:t>
                      </a:r>
                    </a:p>
                  </a:txBody>
                  <a:tcPr marT="27432" marB="27432">
                    <a:solidFill>
                      <a:srgbClr val="F3F7FC"/>
                    </a:solidFill>
                  </a:tcPr>
                </a:tc>
              </a:tr>
              <a:tr h="338328">
                <a:tc>
                  <a:txBody>
                    <a:bodyPr wrap="square"/>
                    <a:lstStyle/>
                    <a:p>
                      <a:r>
                        <a:rPr sz="1000" b="1">
                          <a:solidFill>
                            <a:srgbClr val="323232"/>
                          </a:solidFill>
                          <a:latin typeface="Segoe UI"/>
                        </a:rPr>
                        <a:t>UC08 AKS platform triage</a:t>
                      </a:r>
                    </a:p>
                  </a:txBody>
                  <a:tcPr marT="27432" marB="27432">
                    <a:solidFill>
                      <a:srgbClr val="FFFFFF"/>
                    </a:solidFill>
                  </a:tcPr>
                </a:tc>
                <a:tc>
                  <a:txBody>
                    <a:bodyPr wrap="square"/>
                    <a:lstStyle/>
                    <a:p>
                      <a:r>
                        <a:rPr sz="1000" b="0">
                          <a:solidFill>
                            <a:srgbClr val="323232"/>
                          </a:solidFill>
                          <a:latin typeface="Segoe UI"/>
                        </a:rPr>
                        <a:t>Combine (conditional) - aks-platform</a:t>
                      </a:r>
                    </a:p>
                  </a:txBody>
                  <a:tcPr marT="27432" marB="27432">
                    <a:solidFill>
                      <a:srgbClr val="FFFFFF"/>
                    </a:solidFill>
                  </a:tcPr>
                </a:tc>
                <a:tc>
                  <a:txBody>
                    <a:bodyPr wrap="square"/>
                    <a:lstStyle/>
                    <a:p>
                      <a:r>
                        <a:rPr sz="1000" b="0">
                          <a:solidFill>
                            <a:srgbClr val="323232"/>
                          </a:solidFill>
                          <a:latin typeface="Segoe UI"/>
                        </a:rPr>
                        <a:t>Dedicated AKS team, network path, incident platform (A1/A7/A3)</a:t>
                      </a:r>
                    </a:p>
                  </a:txBody>
                  <a:tcPr marT="27432" marB="27432">
                    <a:solidFill>
                      <a:srgbClr val="FFFFFF"/>
                    </a:solidFill>
                  </a:tcPr>
                </a:tc>
              </a:tr>
              <a:tr h="338328">
                <a:tc>
                  <a:txBody>
                    <a:bodyPr wrap="square"/>
                    <a:lstStyle/>
                    <a:p>
                      <a:r>
                        <a:rPr sz="1000" b="1">
                          <a:solidFill>
                            <a:srgbClr val="323232"/>
                          </a:solidFill>
                          <a:latin typeface="Segoe UI"/>
                        </a:rPr>
                        <a:t>UC09 AKS upgrade readiness</a:t>
                      </a:r>
                    </a:p>
                  </a:txBody>
                  <a:tcPr marT="27432" marB="27432">
                    <a:solidFill>
                      <a:srgbClr val="F3F7FC"/>
                    </a:solidFill>
                  </a:tcPr>
                </a:tc>
                <a:tc>
                  <a:txBody>
                    <a:bodyPr wrap="square"/>
                    <a:lstStyle/>
                    <a:p>
                      <a:r>
                        <a:rPr sz="1000" b="0">
                          <a:solidFill>
                            <a:srgbClr val="323232"/>
                          </a:solidFill>
                          <a:latin typeface="Segoe UI"/>
                        </a:rPr>
                        <a:t>Combine with UC08 - aks-platform</a:t>
                      </a:r>
                    </a:p>
                  </a:txBody>
                  <a:tcPr marT="27432" marB="27432">
                    <a:solidFill>
                      <a:srgbClr val="F3F7FC"/>
                    </a:solidFill>
                  </a:tcPr>
                </a:tc>
                <a:tc>
                  <a:txBody>
                    <a:bodyPr wrap="square"/>
                    <a:lstStyle/>
                    <a:p>
                      <a:r>
                        <a:rPr sz="1000" b="0">
                          <a:solidFill>
                            <a:srgbClr val="323232"/>
                          </a:solidFill>
                          <a:latin typeface="Segoe UI"/>
                        </a:rPr>
                        <a:t>As UC08; keep with UC08</a:t>
                      </a:r>
                    </a:p>
                  </a:txBody>
                  <a:tcPr marT="27432" marB="27432">
                    <a:solidFill>
                      <a:srgbClr val="F3F7FC"/>
                    </a:solidFill>
                  </a:tcPr>
                </a:tc>
              </a:tr>
              <a:tr h="338328">
                <a:tc>
                  <a:txBody>
                    <a:bodyPr wrap="square"/>
                    <a:lstStyle/>
                    <a:p>
                      <a:r>
                        <a:rPr sz="1000" b="1">
                          <a:solidFill>
                            <a:srgbClr val="323232"/>
                          </a:solidFill>
                          <a:latin typeface="Segoe UI"/>
                        </a:rPr>
                        <a:t>UC10 Backup/restore</a:t>
                      </a:r>
                    </a:p>
                  </a:txBody>
                  <a:tcPr marT="27432" marB="27432">
                    <a:solidFill>
                      <a:srgbClr val="FFFFFF"/>
                    </a:solidFill>
                  </a:tcPr>
                </a:tc>
                <a:tc>
                  <a:txBody>
                    <a:bodyPr wrap="square"/>
                    <a:lstStyle/>
                    <a:p>
                      <a:r>
                        <a:rPr sz="1000" b="0">
                          <a:solidFill>
                            <a:srgbClr val="323232"/>
                          </a:solidFill>
                          <a:latin typeface="Segoe UI"/>
                        </a:rPr>
                        <a:t>Combine - resilience (task)</a:t>
                      </a:r>
                    </a:p>
                  </a:txBody>
                  <a:tcPr marT="27432" marB="27432">
                    <a:solidFill>
                      <a:srgbClr val="FFFFFF"/>
                    </a:solidFill>
                  </a:tcPr>
                </a:tc>
                <a:tc>
                  <a:txBody>
                    <a:bodyPr wrap="square"/>
                    <a:lstStyle/>
                    <a:p>
                      <a:r>
                        <a:rPr sz="1000" b="0">
                          <a:solidFill>
                            <a:srgbClr val="323232"/>
                          </a:solidFill>
                          <a:latin typeface="Segoe UI"/>
                        </a:rPr>
                        <a:t>Backup team has own on-call (A1)</a:t>
                      </a:r>
                    </a:p>
                  </a:txBody>
                  <a:tcPr marT="27432" marB="27432">
                    <a:solidFill>
                      <a:srgbClr val="FFFFFF"/>
                    </a:solidFill>
                  </a:tcPr>
                </a:tc>
              </a:tr>
              <a:tr h="338328">
                <a:tc>
                  <a:txBody>
                    <a:bodyPr wrap="square"/>
                    <a:lstStyle/>
                    <a:p>
                      <a:r>
                        <a:rPr sz="1000" b="1">
                          <a:solidFill>
                            <a:srgbClr val="323232"/>
                          </a:solidFill>
                          <a:latin typeface="Segoe UI"/>
                        </a:rPr>
                        <a:t>UC11 Cost/telemetry anomaly</a:t>
                      </a:r>
                    </a:p>
                  </a:txBody>
                  <a:tcPr marT="27432" marB="27432">
                    <a:solidFill>
                      <a:srgbClr val="F3F7FC"/>
                    </a:solidFill>
                  </a:tcPr>
                </a:tc>
                <a:tc>
                  <a:txBody>
                    <a:bodyPr wrap="square"/>
                    <a:lstStyle/>
                    <a:p>
                      <a:r>
                        <a:rPr sz="1000" b="0">
                          <a:solidFill>
                            <a:srgbClr val="323232"/>
                          </a:solidFill>
                          <a:latin typeface="Segoe UI"/>
                        </a:rPr>
                        <a:t>Combine - finops (task)</a:t>
                      </a:r>
                    </a:p>
                  </a:txBody>
                  <a:tcPr marT="27432" marB="27432">
                    <a:solidFill>
                      <a:srgbClr val="F3F7FC"/>
                    </a:solidFill>
                  </a:tcPr>
                </a:tc>
                <a:tc>
                  <a:txBody>
                    <a:bodyPr wrap="square"/>
                    <a:lstStyle/>
                    <a:p>
                      <a:r>
                        <a:rPr sz="1000" b="0">
                          <a:solidFill>
                            <a:srgbClr val="323232"/>
                          </a:solidFill>
                          <a:latin typeface="Segoe UI"/>
                        </a:rPr>
                        <a:t>Separate FinOps budget/team (A5/A1)</a:t>
                      </a:r>
                    </a:p>
                  </a:txBody>
                  <a:tcPr marT="27432" marB="27432">
                    <a:solidFill>
                      <a:srgbClr val="F3F7FC"/>
                    </a:solidFill>
                  </a:tcPr>
                </a:tc>
              </a:tr>
              <a:tr h="338328">
                <a:tc>
                  <a:txBody>
                    <a:bodyPr wrap="square"/>
                    <a:lstStyle/>
                    <a:p>
                      <a:r>
                        <a:rPr sz="1000" b="1">
                          <a:solidFill>
                            <a:srgbClr val="323232"/>
                          </a:solidFill>
                          <a:latin typeface="Segoe UI"/>
                        </a:rPr>
                        <a:t>UC12 Incident-to-WAF loop</a:t>
                      </a:r>
                    </a:p>
                  </a:txBody>
                  <a:tcPr marT="27432" marB="27432">
                    <a:solidFill>
                      <a:srgbClr val="FFFFFF"/>
                    </a:solidFill>
                  </a:tcPr>
                </a:tc>
                <a:tc>
                  <a:txBody>
                    <a:bodyPr wrap="square"/>
                    <a:lstStyle/>
                    <a:p>
                      <a:r>
                        <a:rPr sz="1000" b="0">
                          <a:solidFill>
                            <a:srgbClr val="323232"/>
                          </a:solidFill>
                          <a:latin typeface="Segoe UI"/>
                        </a:rPr>
                        <a:t>Combine - runs in every agent</a:t>
                      </a:r>
                    </a:p>
                  </a:txBody>
                  <a:tcPr marT="27432" marB="27432">
                    <a:solidFill>
                      <a:srgbClr val="FFFFFF"/>
                    </a:solidFill>
                  </a:tcPr>
                </a:tc>
                <a:tc>
                  <a:txBody>
                    <a:bodyPr wrap="square"/>
                    <a:lstStyle/>
                    <a:p>
                      <a:r>
                        <a:rPr sz="1000" b="0">
                          <a:solidFill>
                            <a:srgbClr val="323232"/>
                          </a:solidFill>
                          <a:latin typeface="Segoe UI"/>
                        </a:rPr>
                        <a:t>No</a:t>
                      </a:r>
                    </a:p>
                  </a:txBody>
                  <a:tcPr marT="27432" marB="27432">
                    <a:solidFill>
                      <a:srgbClr val="FFFFFF"/>
                    </a:solidFill>
                  </a:tcPr>
                </a:tc>
              </a:tr>
              <a:tr h="338328">
                <a:tc>
                  <a:txBody>
                    <a:bodyPr wrap="square"/>
                    <a:lstStyle/>
                    <a:p>
                      <a:r>
                        <a:rPr sz="1000" b="1">
                          <a:solidFill>
                            <a:srgbClr val="323232"/>
                          </a:solidFill>
                          <a:latin typeface="Segoe UI"/>
                        </a:rPr>
                        <a:t>Future write/remediation</a:t>
                      </a:r>
                    </a:p>
                  </a:txBody>
                  <a:tcPr marT="27432" marB="27432">
                    <a:solidFill>
                      <a:srgbClr val="F3F7FC"/>
                    </a:solidFill>
                  </a:tcPr>
                </a:tc>
                <a:tc>
                  <a:txBody>
                    <a:bodyPr wrap="square"/>
                    <a:lstStyle/>
                    <a:p>
                      <a:r>
                        <a:rPr sz="1000" b="0">
                          <a:solidFill>
                            <a:srgbClr val="323232"/>
                          </a:solidFill>
                          <a:latin typeface="Segoe UI"/>
                        </a:rPr>
                        <a:t>Separate or gated</a:t>
                      </a:r>
                    </a:p>
                  </a:txBody>
                  <a:tcPr marT="27432" marB="27432">
                    <a:solidFill>
                      <a:srgbClr val="F3F7FC"/>
                    </a:solidFill>
                  </a:tcPr>
                </a:tc>
                <a:tc>
                  <a:txBody>
                    <a:bodyPr wrap="square"/>
                    <a:lstStyle/>
                    <a:p>
                      <a:r>
                        <a:rPr sz="1000" b="0">
                          <a:solidFill>
                            <a:srgbClr val="323232"/>
                          </a:solidFill>
                          <a:latin typeface="Segoe UI"/>
                        </a:rPr>
                        <a:t>Distinct write boundary (A2)</a:t>
                      </a:r>
                    </a:p>
                  </a:txBody>
                  <a:tcPr marT="27432" marB="27432">
                    <a:solidFill>
                      <a:srgbClr val="F3F7F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First-wave platform use cases</a:t>
            </a:r>
          </a:p>
        </p:txBody>
      </p:sp>
      <p:graphicFrame>
        <p:nvGraphicFramePr>
          <p:cNvPr id="4" name="Table 3"/>
          <p:cNvGraphicFramePr>
            <a:graphicFrameLocks noGrp="1"/>
          </p:cNvGraphicFramePr>
          <p:nvPr/>
        </p:nvGraphicFramePr>
        <p:xfrm>
          <a:off x="731520" y="1280160"/>
          <a:ext cx="10515600" cy="32004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r>
                        <a:rPr sz="1200" b="1" i="0">
                          <a:solidFill>
                            <a:srgbClr val="FFFFFF"/>
                          </a:solidFill>
                          <a:latin typeface="Segoe UI"/>
                        </a:rPr>
                        <a:t>Case</a:t>
                      </a:r>
                    </a:p>
                  </a:txBody>
                  <a:tcPr>
                    <a:solidFill>
                      <a:srgbClr val="0078D4"/>
                    </a:solidFill>
                  </a:tcPr>
                </a:tc>
                <a:tc>
                  <a:txBody>
                    <a:bodyPr/>
                    <a:lstStyle/>
                    <a:p>
                      <a:r>
                        <a:rPr sz="1200" b="1" i="0">
                          <a:solidFill>
                            <a:srgbClr val="FFFFFF"/>
                          </a:solidFill>
                          <a:latin typeface="Segoe UI"/>
                        </a:rPr>
                        <a:t>Setup focus</a:t>
                      </a:r>
                    </a:p>
                  </a:txBody>
                  <a:tcPr>
                    <a:solidFill>
                      <a:srgbClr val="0078D4"/>
                    </a:solidFill>
                  </a:tcPr>
                </a:tc>
                <a:tc>
                  <a:txBody>
                    <a:bodyPr/>
                    <a:lstStyle/>
                    <a:p>
                      <a:r>
                        <a:rPr sz="1200" b="1" i="0">
                          <a:solidFill>
                            <a:srgbClr val="FFFFFF"/>
                          </a:solidFill>
                          <a:latin typeface="Segoe UI"/>
                        </a:rPr>
                        <a:t>Value</a:t>
                      </a:r>
                    </a:p>
                  </a:txBody>
                  <a:tcPr>
                    <a:solidFill>
                      <a:srgbClr val="0078D4"/>
                    </a:solidFill>
                  </a:tcPr>
                </a:tc>
              </a:tr>
              <a:tr h="457200">
                <a:tc>
                  <a:txBody>
                    <a:bodyPr/>
                    <a:lstStyle/>
                    <a:p>
                      <a:r>
                        <a:rPr sz="1100" b="0" i="0">
                          <a:solidFill>
                            <a:srgbClr val="323232"/>
                          </a:solidFill>
                          <a:latin typeface="Segoe UI"/>
                        </a:rPr>
                        <a:t>UC01 Vending failure</a:t>
                      </a:r>
                    </a:p>
                  </a:txBody>
                  <a:tcPr/>
                </a:tc>
                <a:tc>
                  <a:txBody>
                    <a:bodyPr/>
                    <a:lstStyle/>
                    <a:p>
                      <a:r>
                        <a:rPr sz="1100" b="0" i="0">
                          <a:solidFill>
                            <a:srgbClr val="323232"/>
                          </a:solidFill>
                          <a:latin typeface="Segoe UI"/>
                        </a:rPr>
                        <a:t>Sanitized CI + deployment evidence</a:t>
                      </a:r>
                    </a:p>
                  </a:txBody>
                  <a:tcPr/>
                </a:tc>
                <a:tc>
                  <a:txBody>
                    <a:bodyPr/>
                    <a:lstStyle/>
                    <a:p>
                      <a:r>
                        <a:rPr sz="1100" b="0" i="0">
                          <a:solidFill>
                            <a:srgbClr val="323232"/>
                          </a:solidFill>
                          <a:latin typeface="Segoe UI"/>
                        </a:rPr>
                        <a:t>Faster failing-stage attribution</a:t>
                      </a:r>
                    </a:p>
                  </a:txBody>
                  <a:tcPr/>
                </a:tc>
              </a:tr>
              <a:tr h="457200">
                <a:tc>
                  <a:txBody>
                    <a:bodyPr/>
                    <a:lstStyle/>
                    <a:p>
                      <a:r>
                        <a:rPr sz="1100" b="0" i="0">
                          <a:solidFill>
                            <a:srgbClr val="323232"/>
                          </a:solidFill>
                          <a:latin typeface="Segoe UI"/>
                        </a:rPr>
                        <a:t>UC02 Baseline readiness</a:t>
                      </a:r>
                    </a:p>
                  </a:txBody>
                  <a:tcPr>
                    <a:solidFill>
                      <a:srgbClr val="F3F2F1"/>
                    </a:solidFill>
                  </a:tcPr>
                </a:tc>
                <a:tc>
                  <a:txBody>
                    <a:bodyPr/>
                    <a:lstStyle/>
                    <a:p>
                      <a:r>
                        <a:rPr sz="1100" b="0" i="0">
                          <a:solidFill>
                            <a:srgbClr val="323232"/>
                          </a:solidFill>
                          <a:latin typeface="Segoe UI"/>
                        </a:rPr>
                        <a:t>Desired state + Policy / inventory</a:t>
                      </a:r>
                    </a:p>
                  </a:txBody>
                  <a:tcPr>
                    <a:solidFill>
                      <a:srgbClr val="F3F2F1"/>
                    </a:solidFill>
                  </a:tcPr>
                </a:tc>
                <a:tc>
                  <a:txBody>
                    <a:bodyPr/>
                    <a:lstStyle/>
                    <a:p>
                      <a:r>
                        <a:rPr sz="1100" b="0" i="0">
                          <a:solidFill>
                            <a:srgbClr val="323232"/>
                          </a:solidFill>
                          <a:latin typeface="Segoe UI"/>
                        </a:rPr>
                        <a:t>Defensible handover</a:t>
                      </a:r>
                    </a:p>
                  </a:txBody>
                  <a:tcPr>
                    <a:solidFill>
                      <a:srgbClr val="F3F2F1"/>
                    </a:solidFill>
                  </a:tcPr>
                </a:tc>
              </a:tr>
              <a:tr h="457200">
                <a:tc>
                  <a:txBody>
                    <a:bodyPr/>
                    <a:lstStyle/>
                    <a:p>
                      <a:r>
                        <a:rPr sz="1100" b="0" i="0">
                          <a:solidFill>
                            <a:srgbClr val="323232"/>
                          </a:solidFill>
                          <a:latin typeface="Segoe UI"/>
                        </a:rPr>
                        <a:t>UC03 DNS / private access</a:t>
                      </a:r>
                    </a:p>
                  </a:txBody>
                  <a:tcPr/>
                </a:tc>
                <a:tc>
                  <a:txBody>
                    <a:bodyPr/>
                    <a:lstStyle/>
                    <a:p>
                      <a:r>
                        <a:rPr sz="1100" b="0" i="0">
                          <a:solidFill>
                            <a:srgbClr val="323232"/>
                          </a:solidFill>
                          <a:latin typeface="Segoe UI"/>
                        </a:rPr>
                        <a:t>Source-network probes + change evidence</a:t>
                      </a:r>
                    </a:p>
                  </a:txBody>
                  <a:tcPr/>
                </a:tc>
                <a:tc>
                  <a:txBody>
                    <a:bodyPr/>
                    <a:lstStyle/>
                    <a:p>
                      <a:r>
                        <a:rPr sz="1100" b="0" i="0">
                          <a:solidFill>
                            <a:srgbClr val="323232"/>
                          </a:solidFill>
                          <a:latin typeface="Segoe UI"/>
                        </a:rPr>
                        <a:t>Safer shared-service triage</a:t>
                      </a:r>
                    </a:p>
                  </a:txBody>
                  <a:tcPr/>
                </a:tc>
              </a:tr>
              <a:tr h="457200">
                <a:tc>
                  <a:txBody>
                    <a:bodyPr/>
                    <a:lstStyle/>
                    <a:p>
                      <a:r>
                        <a:rPr sz="1100" b="0" i="0">
                          <a:solidFill>
                            <a:srgbClr val="323232"/>
                          </a:solidFill>
                          <a:latin typeface="Segoe UI"/>
                        </a:rPr>
                        <a:t>UC04 Change correlation</a:t>
                      </a:r>
                    </a:p>
                  </a:txBody>
                  <a:tcPr>
                    <a:solidFill>
                      <a:srgbClr val="F3F2F1"/>
                    </a:solidFill>
                  </a:tcPr>
                </a:tc>
                <a:tc>
                  <a:txBody>
                    <a:bodyPr/>
                    <a:lstStyle/>
                    <a:p>
                      <a:r>
                        <a:rPr sz="1100" b="0" i="0">
                          <a:solidFill>
                            <a:srgbClr val="323232"/>
                          </a:solidFill>
                          <a:latin typeface="Segoe UI"/>
                        </a:rPr>
                        <a:t>Activity Logs + user-flow health</a:t>
                      </a:r>
                    </a:p>
                  </a:txBody>
                  <a:tcPr>
                    <a:solidFill>
                      <a:srgbClr val="F3F2F1"/>
                    </a:solidFill>
                  </a:tcPr>
                </a:tc>
                <a:tc>
                  <a:txBody>
                    <a:bodyPr/>
                    <a:lstStyle/>
                    <a:p>
                      <a:r>
                        <a:rPr sz="1100" b="0" i="0">
                          <a:solidFill>
                            <a:srgbClr val="323232"/>
                          </a:solidFill>
                          <a:latin typeface="Segoe UI"/>
                        </a:rPr>
                        <a:t>Supported incident timeline</a:t>
                      </a:r>
                    </a:p>
                  </a:txBody>
                  <a:tcPr>
                    <a:solidFill>
                      <a:srgbClr val="F3F2F1"/>
                    </a:solidFill>
                  </a:tcPr>
                </a:tc>
              </a:tr>
              <a:tr h="457200">
                <a:tc>
                  <a:txBody>
                    <a:bodyPr/>
                    <a:lstStyle/>
                    <a:p>
                      <a:r>
                        <a:rPr sz="1100" b="0" i="0">
                          <a:solidFill>
                            <a:srgbClr val="323232"/>
                          </a:solidFill>
                          <a:latin typeface="Segoe UI"/>
                        </a:rPr>
                        <a:t>UC05 Monitoring gaps</a:t>
                      </a:r>
                    </a:p>
                  </a:txBody>
                  <a:tcPr/>
                </a:tc>
                <a:tc>
                  <a:txBody>
                    <a:bodyPr/>
                    <a:lstStyle/>
                    <a:p>
                      <a:r>
                        <a:rPr sz="1100" b="0" i="0">
                          <a:solidFill>
                            <a:srgbClr val="323232"/>
                          </a:solidFill>
                          <a:latin typeface="Segoe UI"/>
                        </a:rPr>
                        <a:t>Known event + alert-route tests</a:t>
                      </a:r>
                    </a:p>
                  </a:txBody>
                  <a:tcPr/>
                </a:tc>
                <a:tc>
                  <a:txBody>
                    <a:bodyPr/>
                    <a:lstStyle/>
                    <a:p>
                      <a:r>
                        <a:rPr sz="1100" b="0" i="0">
                          <a:solidFill>
                            <a:srgbClr val="323232"/>
                          </a:solidFill>
                          <a:latin typeface="Segoe UI"/>
                        </a:rPr>
                        <a:t>Evidence-ready platform</a:t>
                      </a:r>
                    </a:p>
                  </a:txBody>
                  <a:tcPr/>
                </a:tc>
              </a:tr>
              <a:tr h="457200">
                <a:tc>
                  <a:txBody>
                    <a:bodyPr/>
                    <a:lstStyle/>
                    <a:p>
                      <a:r>
                        <a:rPr sz="1100" b="0" i="0">
                          <a:solidFill>
                            <a:srgbClr val="323232"/>
                          </a:solidFill>
                          <a:latin typeface="Segoe UI"/>
                        </a:rPr>
                        <a:t>UC08 AKS triage</a:t>
                      </a:r>
                    </a:p>
                  </a:txBody>
                  <a:tcPr>
                    <a:solidFill>
                      <a:srgbClr val="F3F2F1"/>
                    </a:solidFill>
                  </a:tcPr>
                </a:tc>
                <a:tc>
                  <a:txBody>
                    <a:bodyPr/>
                    <a:lstStyle/>
                    <a:p>
                      <a:r>
                        <a:rPr sz="1100" b="0" i="0">
                          <a:solidFill>
                            <a:srgbClr val="323232"/>
                          </a:solidFill>
                          <a:latin typeface="Segoe UI"/>
                        </a:rPr>
                        <a:t>Node/pod + Azure telemetry</a:t>
                      </a:r>
                    </a:p>
                  </a:txBody>
                  <a:tcPr>
                    <a:solidFill>
                      <a:srgbClr val="F3F2F1"/>
                    </a:solidFill>
                  </a:tcPr>
                </a:tc>
                <a:tc>
                  <a:txBody>
                    <a:bodyPr/>
                    <a:lstStyle/>
                    <a:p>
                      <a:r>
                        <a:rPr sz="1100" b="0" i="0">
                          <a:solidFill>
                            <a:srgbClr val="323232"/>
                          </a:solidFill>
                          <a:latin typeface="Segoe UI"/>
                        </a:rPr>
                        <a:t>Clear platform/workload boundary</a:t>
                      </a:r>
                    </a:p>
                  </a:txBody>
                  <a:tcPr>
                    <a:solidFill>
                      <a:srgbClr val="F3F2F1"/>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Subscription vending: investigate, do not replace</a:t>
            </a:r>
          </a:p>
        </p:txBody>
      </p:sp>
      <p:sp>
        <p:nvSpPr>
          <p:cNvPr id="4" name="TextBox 3"/>
          <p:cNvSpPr txBox="1"/>
          <p:nvPr/>
        </p:nvSpPr>
        <p:spPr>
          <a:xfrm>
            <a:off x="457200" y="1188720"/>
            <a:ext cx="5303520" cy="457200"/>
          </a:xfrm>
          <a:prstGeom prst="rect">
            <a:avLst/>
          </a:prstGeom>
          <a:noFill/>
        </p:spPr>
        <p:txBody>
          <a:bodyPr wrap="none">
            <a:spAutoFit/>
          </a:bodyPr>
          <a:lstStyle/>
          <a:p>
            <a:r>
              <a:rPr sz="1800" b="1" i="0">
                <a:solidFill>
                  <a:srgbClr val="0078D4"/>
                </a:solidFill>
                <a:latin typeface="Segoe UI"/>
              </a:rPr>
              <a:t>Failure and acceptance evidence</a:t>
            </a:r>
          </a:p>
        </p:txBody>
      </p:sp>
      <p:sp>
        <p:nvSpPr>
          <p:cNvPr id="5" name="TextBox 4"/>
          <p:cNvSpPr txBox="1"/>
          <p:nvPr/>
        </p:nvSpPr>
        <p:spPr>
          <a:xfrm>
            <a:off x="4572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Request -&gt; authorization -&gt; creation/reuse -&gt; baseline -&gt; handover</a:t>
            </a:r>
          </a:p>
          <a:p>
            <a:pPr>
              <a:spcBef>
                <a:spcPts val="600"/>
              </a:spcBef>
            </a:pPr>
            <a:r>
              <a:rPr sz="1400" b="0" i="0">
                <a:solidFill>
                  <a:srgbClr val="323232"/>
                </a:solidFill>
                <a:latin typeface="Segoe UI"/>
              </a:rPr>
              <a:t>• Correlate run ID, deployment operation, policy and resource scope</a:t>
            </a:r>
          </a:p>
          <a:p>
            <a:pPr>
              <a:spcBef>
                <a:spcPts val="600"/>
              </a:spcBef>
            </a:pPr>
            <a:r>
              <a:rPr sz="1400" b="0" i="0">
                <a:solidFill>
                  <a:srgbClr val="323232"/>
                </a:solidFill>
                <a:latin typeface="Segoe UI"/>
              </a:rPr>
              <a:t>• Test placement, diagnostics, network, ownership and exceptions</a:t>
            </a:r>
          </a:p>
        </p:txBody>
      </p:sp>
      <p:sp>
        <p:nvSpPr>
          <p:cNvPr id="6" name="TextBox 5"/>
          <p:cNvSpPr txBox="1"/>
          <p:nvPr/>
        </p:nvSpPr>
        <p:spPr>
          <a:xfrm>
            <a:off x="6400800" y="1188720"/>
            <a:ext cx="5303520" cy="457200"/>
          </a:xfrm>
          <a:prstGeom prst="rect">
            <a:avLst/>
          </a:prstGeom>
          <a:noFill/>
        </p:spPr>
        <p:txBody>
          <a:bodyPr wrap="none">
            <a:spAutoFit/>
          </a:bodyPr>
          <a:lstStyle/>
          <a:p>
            <a:r>
              <a:rPr sz="1800" b="1" i="0">
                <a:solidFill>
                  <a:srgbClr val="0078D4"/>
                </a:solidFill>
                <a:latin typeface="Segoe UI"/>
              </a:rPr>
              <a:t>Safety and benefit</a:t>
            </a:r>
          </a:p>
        </p:txBody>
      </p:sp>
      <p:sp>
        <p:nvSpPr>
          <p:cNvPr id="7" name="TextBox 6"/>
          <p:cNvSpPr txBox="1"/>
          <p:nvPr/>
        </p:nvSpPr>
        <p:spPr>
          <a:xfrm>
            <a:off x="64008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No automatic subscription creation or policy exemption</a:t>
            </a:r>
          </a:p>
          <a:p>
            <a:pPr>
              <a:spcBef>
                <a:spcPts val="600"/>
              </a:spcBef>
            </a:pPr>
            <a:r>
              <a:rPr sz="1400" b="0" i="0">
                <a:solidFill>
                  <a:srgbClr val="323232"/>
                </a:solidFill>
                <a:latin typeface="Segoe UI"/>
              </a:rPr>
              <a:t>• Correct through the existing vending repository and pipeline</a:t>
            </a:r>
          </a:p>
          <a:p>
            <a:pPr>
              <a:spcBef>
                <a:spcPts val="600"/>
              </a:spcBef>
            </a:pPr>
            <a:r>
              <a:rPr sz="1400" b="0" i="0">
                <a:solidFill>
                  <a:srgbClr val="323232"/>
                </a:solidFill>
                <a:latin typeface="Segoe UI"/>
              </a:rPr>
              <a:t>• Measure failure-to-owner and first-pass acceptance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AI landing zones: platform readiness and capacity</a:t>
            </a:r>
          </a:p>
        </p:txBody>
      </p:sp>
      <p:sp>
        <p:nvSpPr>
          <p:cNvPr id="4" name="TextBox 3"/>
          <p:cNvSpPr txBox="1"/>
          <p:nvPr/>
        </p:nvSpPr>
        <p:spPr>
          <a:xfrm>
            <a:off x="457200" y="1188720"/>
            <a:ext cx="5303520" cy="457200"/>
          </a:xfrm>
          <a:prstGeom prst="rect">
            <a:avLst/>
          </a:prstGeom>
          <a:noFill/>
        </p:spPr>
        <p:txBody>
          <a:bodyPr wrap="none">
            <a:spAutoFit/>
          </a:bodyPr>
          <a:lstStyle/>
          <a:p>
            <a:r>
              <a:rPr sz="1800" b="1" i="0">
                <a:solidFill>
                  <a:srgbClr val="0078D4"/>
                </a:solidFill>
                <a:latin typeface="Segoe UI"/>
              </a:rPr>
              <a:t>UC06 Preview workload foundation</a:t>
            </a:r>
          </a:p>
        </p:txBody>
      </p:sp>
      <p:sp>
        <p:nvSpPr>
          <p:cNvPr id="5" name="TextBox 4"/>
          <p:cNvSpPr txBox="1"/>
          <p:nvPr/>
        </p:nvSpPr>
        <p:spPr>
          <a:xfrm>
            <a:off x="4572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Preview workload LZ: pin the approved accelerator scenario</a:t>
            </a:r>
          </a:p>
          <a:p>
            <a:pPr>
              <a:spcBef>
                <a:spcPts val="600"/>
              </a:spcBef>
            </a:pPr>
            <a:r>
              <a:rPr sz="1400" b="0" i="0">
                <a:solidFill>
                  <a:srgbClr val="323232"/>
                </a:solidFill>
                <a:latin typeface="Segoe UI"/>
              </a:rPr>
              <a:t>• Test managed identity, private DNS and approved reachability</a:t>
            </a:r>
          </a:p>
          <a:p>
            <a:pPr>
              <a:spcBef>
                <a:spcPts val="600"/>
              </a:spcBef>
            </a:pPr>
            <a:r>
              <a:rPr sz="1400" b="0" i="0">
                <a:solidFill>
                  <a:srgbClr val="323232"/>
                </a:solidFill>
                <a:latin typeface="Segoe UI"/>
              </a:rPr>
              <a:t>• Use synthetic input; keep production prompts/documents out</a:t>
            </a:r>
          </a:p>
        </p:txBody>
      </p:sp>
      <p:sp>
        <p:nvSpPr>
          <p:cNvPr id="6" name="TextBox 5"/>
          <p:cNvSpPr txBox="1"/>
          <p:nvPr/>
        </p:nvSpPr>
        <p:spPr>
          <a:xfrm>
            <a:off x="6400800" y="1188720"/>
            <a:ext cx="5303520" cy="457200"/>
          </a:xfrm>
          <a:prstGeom prst="rect">
            <a:avLst/>
          </a:prstGeom>
          <a:noFill/>
        </p:spPr>
        <p:txBody>
          <a:bodyPr wrap="none">
            <a:spAutoFit/>
          </a:bodyPr>
          <a:lstStyle/>
          <a:p>
            <a:r>
              <a:rPr sz="1800" b="1" i="0">
                <a:solidFill>
                  <a:srgbClr val="0078D4"/>
                </a:solidFill>
                <a:latin typeface="Segoe UI"/>
              </a:rPr>
              <a:t>UC07 Capacity and throttling</a:t>
            </a:r>
          </a:p>
        </p:txBody>
      </p:sp>
      <p:sp>
        <p:nvSpPr>
          <p:cNvPr id="7" name="TextBox 6"/>
          <p:cNvSpPr txBox="1"/>
          <p:nvPr/>
        </p:nvSpPr>
        <p:spPr>
          <a:xfrm>
            <a:off x="64008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Correlate actual limits, utilization, errors and latency</a:t>
            </a:r>
          </a:p>
          <a:p>
            <a:pPr>
              <a:spcBef>
                <a:spcPts val="600"/>
              </a:spcBef>
            </a:pPr>
            <a:r>
              <a:rPr sz="1400" b="0" i="0">
                <a:solidFill>
                  <a:srgbClr val="323232"/>
                </a:solidFill>
                <a:latin typeface="Segoe UI"/>
              </a:rPr>
              <a:t>• Distinguish quota, capacity, retries and network failure</a:t>
            </a:r>
          </a:p>
          <a:p>
            <a:pPr>
              <a:spcBef>
                <a:spcPts val="600"/>
              </a:spcBef>
            </a:pPr>
            <a:r>
              <a:rPr sz="1400" b="0" i="0">
                <a:solidFill>
                  <a:srgbClr val="323232"/>
                </a:solidFill>
                <a:latin typeface="Segoe UI"/>
              </a:rPr>
              <a:t>• Approve region/model/scale changes with cost and residency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AKS accelerator: support boundary and safe lifecycle</a:t>
            </a:r>
          </a:p>
        </p:txBody>
      </p:sp>
      <p:sp>
        <p:nvSpPr>
          <p:cNvPr id="4" name="TextBox 3"/>
          <p:cNvSpPr txBox="1"/>
          <p:nvPr/>
        </p:nvSpPr>
        <p:spPr>
          <a:xfrm>
            <a:off x="457200" y="1188720"/>
            <a:ext cx="5303520" cy="457200"/>
          </a:xfrm>
          <a:prstGeom prst="rect">
            <a:avLst/>
          </a:prstGeom>
          <a:noFill/>
        </p:spPr>
        <p:txBody>
          <a:bodyPr wrap="none">
            <a:spAutoFit/>
          </a:bodyPr>
          <a:lstStyle/>
          <a:p>
            <a:r>
              <a:rPr sz="1800" b="1" i="0">
                <a:solidFill>
                  <a:srgbClr val="0078D4"/>
                </a:solidFill>
                <a:latin typeface="Segoe UI"/>
              </a:rPr>
              <a:t>UC08 Incident triage</a:t>
            </a:r>
          </a:p>
        </p:txBody>
      </p:sp>
      <p:sp>
        <p:nvSpPr>
          <p:cNvPr id="5" name="TextBox 4"/>
          <p:cNvSpPr txBox="1"/>
          <p:nvPr/>
        </p:nvSpPr>
        <p:spPr>
          <a:xfrm>
            <a:off x="4572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Collect approved Container Insights, Prometheus and control-plane data</a:t>
            </a:r>
          </a:p>
          <a:p>
            <a:pPr>
              <a:spcBef>
                <a:spcPts val="600"/>
              </a:spcBef>
            </a:pPr>
            <a:r>
              <a:rPr sz="1400" b="0" i="0">
                <a:solidFill>
                  <a:srgbClr val="323232"/>
                </a:solidFill>
                <a:latin typeface="Segoe UI"/>
              </a:rPr>
              <a:t>• Separate node/system faults from application manifest/code faults</a:t>
            </a:r>
          </a:p>
          <a:p>
            <a:pPr>
              <a:spcBef>
                <a:spcPts val="600"/>
              </a:spcBef>
            </a:pPr>
            <a:r>
              <a:rPr sz="1400" b="0" i="0">
                <a:solidFill>
                  <a:srgbClr val="323232"/>
                </a:solidFill>
                <a:latin typeface="Segoe UI"/>
              </a:rPr>
              <a:t>• Prove Azure and Kubernetes read authorization independently</a:t>
            </a:r>
          </a:p>
        </p:txBody>
      </p:sp>
      <p:sp>
        <p:nvSpPr>
          <p:cNvPr id="6" name="TextBox 5"/>
          <p:cNvSpPr txBox="1"/>
          <p:nvPr/>
        </p:nvSpPr>
        <p:spPr>
          <a:xfrm>
            <a:off x="6400800" y="1188720"/>
            <a:ext cx="5303520" cy="457200"/>
          </a:xfrm>
          <a:prstGeom prst="rect">
            <a:avLst/>
          </a:prstGeom>
          <a:noFill/>
        </p:spPr>
        <p:txBody>
          <a:bodyPr wrap="none">
            <a:spAutoFit/>
          </a:bodyPr>
          <a:lstStyle/>
          <a:p>
            <a:r>
              <a:rPr sz="1800" b="1" i="0">
                <a:solidFill>
                  <a:srgbClr val="0078D4"/>
                </a:solidFill>
                <a:latin typeface="Segoe UI"/>
              </a:rPr>
              <a:t>UC09 Upgrade readiness</a:t>
            </a:r>
          </a:p>
        </p:txBody>
      </p:sp>
      <p:sp>
        <p:nvSpPr>
          <p:cNvPr id="7" name="TextBox 6"/>
          <p:cNvSpPr txBox="1"/>
          <p:nvPr/>
        </p:nvSpPr>
        <p:spPr>
          <a:xfrm>
            <a:off x="64008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Check versions, disruption budgets, IP/quota headroom and dependencies</a:t>
            </a:r>
          </a:p>
          <a:p>
            <a:pPr>
              <a:spcBef>
                <a:spcPts val="600"/>
              </a:spcBef>
            </a:pPr>
            <a:r>
              <a:rPr sz="1400" b="0" i="0">
                <a:solidFill>
                  <a:srgbClr val="323232"/>
                </a:solidFill>
                <a:latin typeface="Segoe UI"/>
              </a:rPr>
              <a:t>• Use staging/canary and agreed user-flow health checks</a:t>
            </a:r>
          </a:p>
          <a:p>
            <a:pPr>
              <a:spcBef>
                <a:spcPts val="600"/>
              </a:spcBef>
            </a:pPr>
            <a:r>
              <a:rPr sz="1400" b="0" i="0">
                <a:solidFill>
                  <a:srgbClr val="323232"/>
                </a:solidFill>
                <a:latin typeface="Segoe UI"/>
              </a:rPr>
              <a:t>• Recovery may need an alternate cluster; do not assume downgrade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Close the platform operations loop</a:t>
            </a:r>
          </a:p>
        </p:txBody>
      </p:sp>
      <p:graphicFrame>
        <p:nvGraphicFramePr>
          <p:cNvPr id="4" name="Table 3"/>
          <p:cNvGraphicFramePr>
            <a:graphicFrameLocks noGrp="1"/>
          </p:cNvGraphicFramePr>
          <p:nvPr/>
        </p:nvGraphicFramePr>
        <p:xfrm>
          <a:off x="731520" y="1280160"/>
          <a:ext cx="10515600" cy="18288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r>
                        <a:rPr sz="1200" b="1" i="0">
                          <a:solidFill>
                            <a:srgbClr val="FFFFFF"/>
                          </a:solidFill>
                          <a:latin typeface="Segoe UI"/>
                        </a:rPr>
                        <a:t>Case</a:t>
                      </a:r>
                    </a:p>
                  </a:txBody>
                  <a:tcPr>
                    <a:solidFill>
                      <a:srgbClr val="0078D4"/>
                    </a:solidFill>
                  </a:tcPr>
                </a:tc>
                <a:tc>
                  <a:txBody>
                    <a:bodyPr/>
                    <a:lstStyle/>
                    <a:p>
                      <a:r>
                        <a:rPr sz="1200" b="1" i="0">
                          <a:solidFill>
                            <a:srgbClr val="FFFFFF"/>
                          </a:solidFill>
                          <a:latin typeface="Segoe UI"/>
                        </a:rPr>
                        <a:t>Deliverable</a:t>
                      </a:r>
                    </a:p>
                  </a:txBody>
                  <a:tcPr>
                    <a:solidFill>
                      <a:srgbClr val="0078D4"/>
                    </a:solidFill>
                  </a:tcPr>
                </a:tc>
                <a:tc>
                  <a:txBody>
                    <a:bodyPr/>
                    <a:lstStyle/>
                    <a:p>
                      <a:r>
                        <a:rPr sz="1200" b="1" i="0">
                          <a:solidFill>
                            <a:srgbClr val="FFFFFF"/>
                          </a:solidFill>
                          <a:latin typeface="Segoe UI"/>
                        </a:rPr>
                        <a:t>Measure</a:t>
                      </a:r>
                    </a:p>
                  </a:txBody>
                  <a:tcPr>
                    <a:solidFill>
                      <a:srgbClr val="0078D4"/>
                    </a:solidFill>
                  </a:tcPr>
                </a:tc>
              </a:tr>
              <a:tr h="457200">
                <a:tc>
                  <a:txBody>
                    <a:bodyPr/>
                    <a:lstStyle/>
                    <a:p>
                      <a:r>
                        <a:rPr sz="1100" b="0" i="0">
                          <a:solidFill>
                            <a:srgbClr val="323232"/>
                          </a:solidFill>
                          <a:latin typeface="Segoe UI"/>
                        </a:rPr>
                        <a:t>UC10 Recovery assurance</a:t>
                      </a:r>
                    </a:p>
                  </a:txBody>
                  <a:tcPr/>
                </a:tc>
                <a:tc>
                  <a:txBody>
                    <a:bodyPr/>
                    <a:lstStyle/>
                    <a:p>
                      <a:r>
                        <a:rPr sz="1100" b="0" i="0">
                          <a:solidFill>
                            <a:srgbClr val="323232"/>
                          </a:solidFill>
                          <a:latin typeface="Segoe UI"/>
                        </a:rPr>
                        <a:t>Isolated restore/rebuild evidence</a:t>
                      </a:r>
                    </a:p>
                  </a:txBody>
                  <a:tcPr/>
                </a:tc>
                <a:tc>
                  <a:txBody>
                    <a:bodyPr/>
                    <a:lstStyle/>
                    <a:p>
                      <a:r>
                        <a:rPr sz="1100" b="0" i="0">
                          <a:solidFill>
                            <a:srgbClr val="323232"/>
                          </a:solidFill>
                          <a:latin typeface="Segoe UI"/>
                        </a:rPr>
                        <a:t>Measured RTO/RPO and integrity</a:t>
                      </a:r>
                    </a:p>
                  </a:txBody>
                  <a:tcPr/>
                </a:tc>
              </a:tr>
              <a:tr h="457200">
                <a:tc>
                  <a:txBody>
                    <a:bodyPr/>
                    <a:lstStyle/>
                    <a:p>
                      <a:r>
                        <a:rPr sz="1100" b="0" i="0">
                          <a:solidFill>
                            <a:srgbClr val="323232"/>
                          </a:solidFill>
                          <a:latin typeface="Segoe UI"/>
                        </a:rPr>
                        <a:t>UC11 Cost anomaly</a:t>
                      </a:r>
                    </a:p>
                  </a:txBody>
                  <a:tcPr>
                    <a:solidFill>
                      <a:srgbClr val="F3F2F1"/>
                    </a:solidFill>
                  </a:tcPr>
                </a:tc>
                <a:tc>
                  <a:txBody>
                    <a:bodyPr/>
                    <a:lstStyle/>
                    <a:p>
                      <a:r>
                        <a:rPr sz="1100" b="0" i="0">
                          <a:solidFill>
                            <a:srgbClr val="323232"/>
                          </a:solidFill>
                          <a:latin typeface="Segoe UI"/>
                        </a:rPr>
                        <a:t>Ranked usage drivers and safe options</a:t>
                      </a:r>
                    </a:p>
                  </a:txBody>
                  <a:tcPr>
                    <a:solidFill>
                      <a:srgbClr val="F3F2F1"/>
                    </a:solidFill>
                  </a:tcPr>
                </a:tc>
                <a:tc>
                  <a:txBody>
                    <a:bodyPr/>
                    <a:lstStyle/>
                    <a:p>
                      <a:r>
                        <a:rPr sz="1100" b="0" i="0">
                          <a:solidFill>
                            <a:srgbClr val="323232"/>
                          </a:solidFill>
                          <a:latin typeface="Segoe UI"/>
                        </a:rPr>
                        <a:t>EUR/incident and realized savings</a:t>
                      </a:r>
                    </a:p>
                  </a:txBody>
                  <a:tcPr>
                    <a:solidFill>
                      <a:srgbClr val="F3F2F1"/>
                    </a:solidFill>
                  </a:tcPr>
                </a:tc>
              </a:tr>
              <a:tr h="457200">
                <a:tc>
                  <a:txBody>
                    <a:bodyPr/>
                    <a:lstStyle/>
                    <a:p>
                      <a:r>
                        <a:rPr sz="1100" b="0" i="0">
                          <a:solidFill>
                            <a:srgbClr val="323232"/>
                          </a:solidFill>
                          <a:latin typeface="Segoe UI"/>
                        </a:rPr>
                        <a:t>UC12 Incident-to-WAF</a:t>
                      </a:r>
                    </a:p>
                  </a:txBody>
                  <a:tcPr/>
                </a:tc>
                <a:tc>
                  <a:txBody>
                    <a:bodyPr/>
                    <a:lstStyle/>
                    <a:p>
                      <a:r>
                        <a:rPr sz="1100" b="0" i="0">
                          <a:solidFill>
                            <a:srgbClr val="323232"/>
                          </a:solidFill>
                          <a:latin typeface="Segoe UI"/>
                        </a:rPr>
                        <a:t>Reviewed timeline and owned improvements</a:t>
                      </a:r>
                    </a:p>
                  </a:txBody>
                  <a:tcPr/>
                </a:tc>
                <a:tc>
                  <a:txBody>
                    <a:bodyPr/>
                    <a:lstStyle/>
                    <a:p>
                      <a:r>
                        <a:rPr sz="1100" b="0" i="0">
                          <a:solidFill>
                            <a:srgbClr val="323232"/>
                          </a:solidFill>
                          <a:latin typeface="Segoe UI"/>
                        </a:rPr>
                        <a:t>Recurrence and action closure</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One use case per WAF pillar - platform view</a:t>
            </a:r>
          </a:p>
        </p:txBody>
      </p:sp>
      <p:graphicFrame>
        <p:nvGraphicFramePr>
          <p:cNvPr id="4" name="Table 3"/>
          <p:cNvGraphicFramePr>
            <a:graphicFrameLocks noGrp="1"/>
          </p:cNvGraphicFramePr>
          <p:nvPr/>
        </p:nvGraphicFramePr>
        <p:xfrm>
          <a:off x="457200" y="1188720"/>
          <a:ext cx="11277600" cy="2280000"/>
        </p:xfrm>
        <a:graphic>
          <a:graphicData uri="http://schemas.openxmlformats.org/drawingml/2006/table">
            <a:tbl>
              <a:tblPr firstRow="1" bandRow="1">
                <a:tableStyleId>{5C22544A-7EE6-4342-B048-85BDC9FD1C3A}</a:tableStyleId>
              </a:tblPr>
              <a:tblGrid>
                <a:gridCol w="1900000"/>
                <a:gridCol w="2900000"/>
                <a:gridCol w="1900000"/>
                <a:gridCol w="2600000"/>
                <a:gridCol w="1977600"/>
              </a:tblGrid>
              <a:tr h="380000">
                <a:tc>
                  <a:txBody>
                    <a:bodyPr/>
                    <a:lstStyle/>
                    <a:p>
                      <a:r>
                        <a:rPr sz="1100" b="1">
                          <a:solidFill>
                            <a:srgbClr val="FFFFFF"/>
                          </a:solidFill>
                          <a:latin typeface="Segoe UI"/>
                        </a:rPr>
                        <a:t>Pillar</a:t>
                      </a:r>
                    </a:p>
                  </a:txBody>
                  <a:tcPr>
                    <a:solidFill>
                      <a:srgbClr val="0078D4"/>
                    </a:solidFill>
                  </a:tcPr>
                </a:tc>
                <a:tc>
                  <a:txBody>
                    <a:bodyPr/>
                    <a:lstStyle/>
                    <a:p>
                      <a:r>
                        <a:rPr sz="1100" b="1">
                          <a:solidFill>
                            <a:srgbClr val="FFFFFF"/>
                          </a:solidFill>
                          <a:latin typeface="Segoe UI"/>
                        </a:rPr>
                        <a:t>Use case</a:t>
                      </a:r>
                    </a:p>
                  </a:txBody>
                  <a:tcPr>
                    <a:solidFill>
                      <a:srgbClr val="0078D4"/>
                    </a:solidFill>
                  </a:tcPr>
                </a:tc>
                <a:tc>
                  <a:txBody>
                    <a:bodyPr/>
                    <a:lstStyle/>
                    <a:p>
                      <a:r>
                        <a:rPr sz="1100" b="1">
                          <a:solidFill>
                            <a:srgbClr val="FFFFFF"/>
                          </a:solidFill>
                          <a:latin typeface="Segoe UI"/>
                        </a:rPr>
                        <a:t>WAF codes</a:t>
                      </a:r>
                    </a:p>
                  </a:txBody>
                  <a:tcPr>
                    <a:solidFill>
                      <a:srgbClr val="0078D4"/>
                    </a:solidFill>
                  </a:tcPr>
                </a:tc>
                <a:tc>
                  <a:txBody>
                    <a:bodyPr/>
                    <a:lstStyle/>
                    <a:p>
                      <a:r>
                        <a:rPr sz="1100" b="1">
                          <a:solidFill>
                            <a:srgbClr val="FFFFFF"/>
                          </a:solidFill>
                          <a:latin typeface="Segoe UI"/>
                        </a:rPr>
                        <a:t>Trigger</a:t>
                      </a:r>
                    </a:p>
                  </a:txBody>
                  <a:tcPr>
                    <a:solidFill>
                      <a:srgbClr val="0078D4"/>
                    </a:solidFill>
                  </a:tcPr>
                </a:tc>
                <a:tc>
                  <a:txBody>
                    <a:bodyPr/>
                    <a:lstStyle/>
                    <a:p>
                      <a:r>
                        <a:rPr sz="1100" b="1">
                          <a:solidFill>
                            <a:srgbClr val="FFFFFF"/>
                          </a:solidFill>
                          <a:latin typeface="Segoe UI"/>
                        </a:rPr>
                        <a:t>CCoE / team benefit</a:t>
                      </a:r>
                    </a:p>
                  </a:txBody>
                  <a:tcPr>
                    <a:solidFill>
                      <a:srgbClr val="0078D4"/>
                    </a:solidFill>
                  </a:tcPr>
                </a:tc>
              </a:tr>
              <a:tr h="380000">
                <a:tc>
                  <a:txBody>
                    <a:bodyPr/>
                    <a:lstStyle/>
                    <a:p>
                      <a:r>
                        <a:rPr sz="1100" b="0">
                          <a:solidFill>
                            <a:srgbClr val="323232"/>
                          </a:solidFill>
                          <a:latin typeface="Segoe UI"/>
                        </a:rPr>
                        <a:t>W1 Reliability</a:t>
                      </a:r>
                    </a:p>
                  </a:txBody>
                  <a:tcPr>
                    <a:solidFill>
                      <a:srgbClr val="FFFFFF"/>
                    </a:solidFill>
                  </a:tcPr>
                </a:tc>
                <a:tc>
                  <a:txBody>
                    <a:bodyPr/>
                    <a:lstStyle/>
                    <a:p>
                      <a:r>
                        <a:rPr sz="1100" b="0">
                          <a:solidFill>
                            <a:srgbClr val="323232"/>
                          </a:solidFill>
                          <a:latin typeface="Segoe UI"/>
                        </a:rPr>
                        <a:t>Resilience &amp; recovery-readiness vs promised tier</a:t>
                      </a:r>
                    </a:p>
                  </a:txBody>
                  <a:tcPr>
                    <a:solidFill>
                      <a:srgbClr val="FFFFFF"/>
                    </a:solidFill>
                  </a:tcPr>
                </a:tc>
                <a:tc>
                  <a:txBody>
                    <a:bodyPr/>
                    <a:lstStyle/>
                    <a:p>
                      <a:r>
                        <a:rPr sz="1100" b="0">
                          <a:solidFill>
                            <a:srgbClr val="323232"/>
                          </a:solidFill>
                          <a:latin typeface="Segoe UI"/>
                        </a:rPr>
                        <a:t>RE:03-05, 09, 10</a:t>
                      </a:r>
                    </a:p>
                  </a:txBody>
                  <a:tcPr>
                    <a:solidFill>
                      <a:srgbClr val="FFFFFF"/>
                    </a:solidFill>
                  </a:tcPr>
                </a:tc>
                <a:tc>
                  <a:txBody>
                    <a:bodyPr/>
                    <a:lstStyle/>
                    <a:p>
                      <a:r>
                        <a:rPr sz="1100" b="0">
                          <a:solidFill>
                            <a:srgbClr val="323232"/>
                          </a:solidFill>
                          <a:latin typeface="Segoe UI"/>
                        </a:rPr>
                        <a:t>Weekly task; Resource Health alert</a:t>
                      </a:r>
                    </a:p>
                  </a:txBody>
                  <a:tcPr>
                    <a:solidFill>
                      <a:srgbClr val="FFFFFF"/>
                    </a:solidFill>
                  </a:tcPr>
                </a:tc>
                <a:tc>
                  <a:txBody>
                    <a:bodyPr/>
                    <a:lstStyle/>
                    <a:p>
                      <a:r>
                        <a:rPr sz="1100" b="0">
                          <a:solidFill>
                            <a:srgbClr val="323232"/>
                          </a:solidFill>
                          <a:latin typeface="Segoe UI"/>
                        </a:rPr>
                        <a:t>Tier promise vs reality per landing zone</a:t>
                      </a:r>
                    </a:p>
                  </a:txBody>
                  <a:tcPr>
                    <a:solidFill>
                      <a:srgbClr val="FFFFFF"/>
                    </a:solidFill>
                  </a:tcPr>
                </a:tc>
              </a:tr>
              <a:tr h="380000">
                <a:tc>
                  <a:txBody>
                    <a:bodyPr/>
                    <a:lstStyle/>
                    <a:p>
                      <a:r>
                        <a:rPr sz="1100" b="0">
                          <a:solidFill>
                            <a:srgbClr val="323232"/>
                          </a:solidFill>
                          <a:latin typeface="Segoe UI"/>
                        </a:rPr>
                        <a:t>W2 Security</a:t>
                      </a:r>
                    </a:p>
                  </a:txBody>
                  <a:tcPr>
                    <a:solidFill>
                      <a:srgbClr val="F3F7FC"/>
                    </a:solidFill>
                  </a:tcPr>
                </a:tc>
                <a:tc>
                  <a:txBody>
                    <a:bodyPr/>
                    <a:lstStyle/>
                    <a:p>
                      <a:r>
                        <a:rPr sz="1100" b="0">
                          <a:solidFill>
                            <a:srgbClr val="323232"/>
                          </a:solidFill>
                          <a:latin typeface="Segoe UI"/>
                        </a:rPr>
                        <a:t>Baseline drift &amp; exposure triage</a:t>
                      </a:r>
                    </a:p>
                  </a:txBody>
                  <a:tcPr>
                    <a:solidFill>
                      <a:srgbClr val="F3F7FC"/>
                    </a:solidFill>
                  </a:tcPr>
                </a:tc>
                <a:tc>
                  <a:txBody>
                    <a:bodyPr/>
                    <a:lstStyle/>
                    <a:p>
                      <a:r>
                        <a:rPr sz="1100" b="0">
                          <a:solidFill>
                            <a:srgbClr val="323232"/>
                          </a:solidFill>
                          <a:latin typeface="Segoe UI"/>
                        </a:rPr>
                        <a:t>SE:01, 04-06, 08, 10</a:t>
                      </a:r>
                    </a:p>
                  </a:txBody>
                  <a:tcPr>
                    <a:solidFill>
                      <a:srgbClr val="F3F7FC"/>
                    </a:solidFill>
                  </a:tcPr>
                </a:tc>
                <a:tc>
                  <a:txBody>
                    <a:bodyPr/>
                    <a:lstStyle/>
                    <a:p>
                      <a:r>
                        <a:rPr sz="1100" b="0">
                          <a:solidFill>
                            <a:srgbClr val="323232"/>
                          </a:solidFill>
                          <a:latin typeface="Segoe UI"/>
                        </a:rPr>
                        <a:t>Daily task; high-severity finding</a:t>
                      </a:r>
                    </a:p>
                  </a:txBody>
                  <a:tcPr>
                    <a:solidFill>
                      <a:srgbClr val="F3F7FC"/>
                    </a:solidFill>
                  </a:tcPr>
                </a:tc>
                <a:tc>
                  <a:txBody>
                    <a:bodyPr/>
                    <a:lstStyle/>
                    <a:p>
                      <a:r>
                        <a:rPr sz="1100" b="0">
                          <a:solidFill>
                            <a:srgbClr val="323232"/>
                          </a:solidFill>
                          <a:latin typeface="Segoe UI"/>
                        </a:rPr>
                        <a:t>Owner-routed findings, not raw lists</a:t>
                      </a:r>
                    </a:p>
                  </a:txBody>
                  <a:tcPr>
                    <a:solidFill>
                      <a:srgbClr val="F3F7FC"/>
                    </a:solidFill>
                  </a:tcPr>
                </a:tc>
              </a:tr>
              <a:tr h="380000">
                <a:tc>
                  <a:txBody>
                    <a:bodyPr/>
                    <a:lstStyle/>
                    <a:p>
                      <a:r>
                        <a:rPr sz="1100" b="0">
                          <a:solidFill>
                            <a:srgbClr val="323232"/>
                          </a:solidFill>
                          <a:latin typeface="Segoe UI"/>
                        </a:rPr>
                        <a:t>W3 Cost Optimization</a:t>
                      </a:r>
                    </a:p>
                  </a:txBody>
                  <a:tcPr>
                    <a:solidFill>
                      <a:srgbClr val="FFFFFF"/>
                    </a:solidFill>
                  </a:tcPr>
                </a:tc>
                <a:tc>
                  <a:txBody>
                    <a:bodyPr/>
                    <a:lstStyle/>
                    <a:p>
                      <a:r>
                        <a:rPr sz="1100" b="0">
                          <a:solidFill>
                            <a:srgbClr val="323232"/>
                          </a:solidFill>
                          <a:latin typeface="Segoe UI"/>
                        </a:rPr>
                        <a:t>Cost anomaly &amp; waste review</a:t>
                      </a:r>
                    </a:p>
                  </a:txBody>
                  <a:tcPr>
                    <a:solidFill>
                      <a:srgbClr val="FFFFFF"/>
                    </a:solidFill>
                  </a:tcPr>
                </a:tc>
                <a:tc>
                  <a:txBody>
                    <a:bodyPr/>
                    <a:lstStyle/>
                    <a:p>
                      <a:r>
                        <a:rPr sz="1100" b="0">
                          <a:solidFill>
                            <a:srgbClr val="323232"/>
                          </a:solidFill>
                          <a:latin typeface="Segoe UI"/>
                        </a:rPr>
                        <a:t>CO:03, 04, 07, 08, 10, 14</a:t>
                      </a:r>
                    </a:p>
                  </a:txBody>
                  <a:tcPr>
                    <a:solidFill>
                      <a:srgbClr val="FFFFFF"/>
                    </a:solidFill>
                  </a:tcPr>
                </a:tc>
                <a:tc>
                  <a:txBody>
                    <a:bodyPr/>
                    <a:lstStyle/>
                    <a:p>
                      <a:r>
                        <a:rPr sz="1100" b="0">
                          <a:solidFill>
                            <a:srgbClr val="323232"/>
                          </a:solidFill>
                          <a:latin typeface="Segoe UI"/>
                        </a:rPr>
                        <a:t>Anomaly/budget alert; weekly task</a:t>
                      </a:r>
                    </a:p>
                  </a:txBody>
                  <a:tcPr>
                    <a:solidFill>
                      <a:srgbClr val="FFFFFF"/>
                    </a:solidFill>
                  </a:tcPr>
                </a:tc>
                <a:tc>
                  <a:txBody>
                    <a:bodyPr/>
                    <a:lstStyle/>
                    <a:p>
                      <a:r>
                        <a:rPr sz="1100" b="0">
                          <a:solidFill>
                            <a:srgbClr val="323232"/>
                          </a:solidFill>
                          <a:latin typeface="Segoe UI"/>
                        </a:rPr>
                        <a:t>Explained anomalies; safe waste backlog</a:t>
                      </a:r>
                    </a:p>
                  </a:txBody>
                  <a:tcPr>
                    <a:solidFill>
                      <a:srgbClr val="FFFFFF"/>
                    </a:solidFill>
                  </a:tcPr>
                </a:tc>
              </a:tr>
              <a:tr h="380000">
                <a:tc>
                  <a:txBody>
                    <a:bodyPr/>
                    <a:lstStyle/>
                    <a:p>
                      <a:r>
                        <a:rPr sz="1100" b="0">
                          <a:solidFill>
                            <a:srgbClr val="323232"/>
                          </a:solidFill>
                          <a:latin typeface="Segoe UI"/>
                        </a:rPr>
                        <a:t>W4 Operational Excellence</a:t>
                      </a:r>
                    </a:p>
                  </a:txBody>
                  <a:tcPr>
                    <a:solidFill>
                      <a:srgbClr val="F3F7FC"/>
                    </a:solidFill>
                  </a:tcPr>
                </a:tc>
                <a:tc>
                  <a:txBody>
                    <a:bodyPr/>
                    <a:lstStyle/>
                    <a:p>
                      <a:r>
                        <a:rPr sz="1100" b="0">
                          <a:solidFill>
                            <a:srgbClr val="323232"/>
                          </a:solidFill>
                          <a:latin typeface="Segoe UI"/>
                        </a:rPr>
                        <a:t>Post-deploy health gate &amp; out-of-band change</a:t>
                      </a:r>
                    </a:p>
                  </a:txBody>
                  <a:tcPr>
                    <a:solidFill>
                      <a:srgbClr val="F3F7FC"/>
                    </a:solidFill>
                  </a:tcPr>
                </a:tc>
                <a:tc>
                  <a:txBody>
                    <a:bodyPr/>
                    <a:lstStyle/>
                    <a:p>
                      <a:r>
                        <a:rPr sz="1100" b="0">
                          <a:solidFill>
                            <a:srgbClr val="323232"/>
                          </a:solidFill>
                          <a:latin typeface="Segoe UI"/>
                        </a:rPr>
                        <a:t>OE:05, 06, 08, 10, 11</a:t>
                      </a:r>
                    </a:p>
                  </a:txBody>
                  <a:tcPr>
                    <a:solidFill>
                      <a:srgbClr val="F3F7FC"/>
                    </a:solidFill>
                  </a:tcPr>
                </a:tc>
                <a:tc>
                  <a:txBody>
                    <a:bodyPr/>
                    <a:lstStyle/>
                    <a:p>
                      <a:r>
                        <a:rPr sz="1100" b="0">
                          <a:solidFill>
                            <a:srgbClr val="323232"/>
                          </a:solidFill>
                          <a:latin typeface="Segoe UI"/>
                        </a:rPr>
                        <a:t>Pipeline HTTP trigger; daily task</a:t>
                      </a:r>
                    </a:p>
                  </a:txBody>
                  <a:tcPr>
                    <a:solidFill>
                      <a:srgbClr val="F3F7FC"/>
                    </a:solidFill>
                  </a:tcPr>
                </a:tc>
                <a:tc>
                  <a:txBody>
                    <a:bodyPr/>
                    <a:lstStyle/>
                    <a:p>
                      <a:r>
                        <a:rPr sz="1100" b="0">
                          <a:solidFill>
                            <a:srgbClr val="323232"/>
                          </a:solidFill>
                          <a:latin typeface="Segoe UI"/>
                        </a:rPr>
                        <a:t>Proof that IaC-only is followed</a:t>
                      </a:r>
                    </a:p>
                  </a:txBody>
                  <a:tcPr>
                    <a:solidFill>
                      <a:srgbClr val="F3F7FC"/>
                    </a:solidFill>
                  </a:tcPr>
                </a:tc>
              </a:tr>
              <a:tr h="380000">
                <a:tc>
                  <a:txBody>
                    <a:bodyPr/>
                    <a:lstStyle/>
                    <a:p>
                      <a:r>
                        <a:rPr sz="1100" b="0">
                          <a:solidFill>
                            <a:srgbClr val="323232"/>
                          </a:solidFill>
                          <a:latin typeface="Segoe UI"/>
                        </a:rPr>
                        <a:t>W5 Performance Efficiency</a:t>
                      </a:r>
                    </a:p>
                  </a:txBody>
                  <a:tcPr>
                    <a:solidFill>
                      <a:srgbClr val="FFFFFF"/>
                    </a:solidFill>
                  </a:tcPr>
                </a:tc>
                <a:tc>
                  <a:txBody>
                    <a:bodyPr/>
                    <a:lstStyle/>
                    <a:p>
                      <a:r>
                        <a:rPr sz="1100" b="0">
                          <a:solidFill>
                            <a:srgbClr val="323232"/>
                          </a:solidFill>
                          <a:latin typeface="Segoe UI"/>
                        </a:rPr>
                        <a:t>Capacity &amp; quota headroom (vending, AI LZ, AKS)</a:t>
                      </a:r>
                    </a:p>
                  </a:txBody>
                  <a:tcPr>
                    <a:solidFill>
                      <a:srgbClr val="FFFFFF"/>
                    </a:solidFill>
                  </a:tcPr>
                </a:tc>
                <a:tc>
                  <a:txBody>
                    <a:bodyPr/>
                    <a:lstStyle/>
                    <a:p>
                      <a:r>
                        <a:rPr sz="1100" b="0">
                          <a:solidFill>
                            <a:srgbClr val="323232"/>
                          </a:solidFill>
                          <a:latin typeface="Segoe UI"/>
                        </a:rPr>
                        <a:t>PE:01, 02, 04, 05, 11</a:t>
                      </a:r>
                    </a:p>
                  </a:txBody>
                  <a:tcPr>
                    <a:solidFill>
                      <a:srgbClr val="FFFFFF"/>
                    </a:solidFill>
                  </a:tcPr>
                </a:tc>
                <a:tc>
                  <a:txBody>
                    <a:bodyPr/>
                    <a:lstStyle/>
                    <a:p>
                      <a:r>
                        <a:rPr sz="1100" b="0">
                          <a:solidFill>
                            <a:srgbClr val="323232"/>
                          </a:solidFill>
                          <a:latin typeface="Segoe UI"/>
                        </a:rPr>
                        <a:t>Weekly task; throttling alert</a:t>
                      </a:r>
                    </a:p>
                  </a:txBody>
                  <a:tcPr>
                    <a:solidFill>
                      <a:srgbClr val="FFFFFF"/>
                    </a:solidFill>
                  </a:tcPr>
                </a:tc>
                <a:tc>
                  <a:txBody>
                    <a:bodyPr/>
                    <a:lstStyle/>
                    <a:p>
                      <a:r>
                        <a:rPr sz="1100" b="0">
                          <a:solidFill>
                            <a:srgbClr val="323232"/>
                          </a:solidFill>
                          <a:latin typeface="Segoe UI"/>
                        </a:rPr>
                        <a:t>No capacity surprises when scaling</a:t>
                      </a:r>
                    </a:p>
                  </a:txBody>
                  <a:tcPr>
                    <a:solidFill>
                      <a:srgbClr val="FFFFFF"/>
                    </a:solidFill>
                  </a:tcPr>
                </a:tc>
              </a:tr>
            </a:tbl>
          </a:graphicData>
        </a:graphic>
      </p:graphicFrame>
      <p:sp>
        <p:nvSpPr>
          <p:cNvPr id="5" name="Rounded Rectangle 4"/>
          <p:cNvSpPr/>
          <p:nvPr/>
        </p:nvSpPr>
        <p:spPr>
          <a:xfrm>
            <a:off x="731520" y="5303520"/>
            <a:ext cx="1072896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All five run in the platform agent as custom agents, in Review mode. Separate only for A1-A7 (e.g. SOC on-call, FinOps cap).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W1 Reliability - resilience &amp; recovery readiness</a:t>
            </a:r>
          </a:p>
        </p:txBody>
      </p:sp>
      <p:sp>
        <p:nvSpPr>
          <p:cNvPr id="4" name="TextBox 3"/>
          <p:cNvSpPr txBox="1"/>
          <p:nvPr/>
        </p:nvSpPr>
        <p:spPr>
          <a:xfrm>
            <a:off x="457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Signals</a:t>
            </a:r>
          </a:p>
        </p:txBody>
      </p:sp>
      <p:sp>
        <p:nvSpPr>
          <p:cNvPr id="5" name="TextBox 4"/>
          <p:cNvSpPr txBox="1"/>
          <p:nvPr/>
        </p:nvSpPr>
        <p:spPr>
          <a:xfrm>
            <a:off x="457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Advisor HighAvailability recommendations (Resource Graph)</a:t>
            </a:r>
          </a:p>
          <a:p>
            <a:pPr>
              <a:spcAft>
                <a:spcPts val="400"/>
              </a:spcAft>
            </a:pPr>
            <a:r>
              <a:rPr sz="1200" b="0">
                <a:solidFill>
                  <a:srgbClr val="323232"/>
                </a:solidFill>
                <a:latin typeface="Segoe UI"/>
              </a:rPr>
              <a:t>• Zone/instance config of hub services, gateways, Key Vault, AKS pools</a:t>
            </a:r>
          </a:p>
          <a:p>
            <a:pPr>
              <a:spcAft>
                <a:spcPts val="400"/>
              </a:spcAft>
            </a:pPr>
            <a:r>
              <a:rPr sz="1200" b="0">
                <a:solidFill>
                  <a:srgbClr val="323232"/>
                </a:solidFill>
                <a:latin typeface="Segoe UI"/>
              </a:rPr>
              <a:t>• Resource Health / Service Health history</a:t>
            </a:r>
          </a:p>
          <a:p>
            <a:pPr>
              <a:spcAft>
                <a:spcPts val="400"/>
              </a:spcAft>
            </a:pPr>
            <a:r>
              <a:rPr sz="1200" b="0">
                <a:solidFill>
                  <a:srgbClr val="323232"/>
                </a:solidFill>
                <a:latin typeface="Segoe UI"/>
              </a:rPr>
              <a:t>• Backup and restore-test evidence (UC10), ASR health</a:t>
            </a:r>
          </a:p>
        </p:txBody>
      </p:sp>
      <p:sp>
        <p:nvSpPr>
          <p:cNvPr id="6" name="TextBox 5"/>
          <p:cNvSpPr txBox="1"/>
          <p:nvPr/>
        </p:nvSpPr>
        <p:spPr>
          <a:xfrm>
            <a:off x="4193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Set-up (read-only)</a:t>
            </a:r>
          </a:p>
        </p:txBody>
      </p:sp>
      <p:sp>
        <p:nvSpPr>
          <p:cNvPr id="7" name="TextBox 6"/>
          <p:cNvSpPr txBox="1"/>
          <p:nvPr/>
        </p:nvSpPr>
        <p:spPr>
          <a:xfrm>
            <a:off x="4193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Tag reliability-tier + RTO/RPO in vending</a:t>
            </a:r>
          </a:p>
          <a:p>
            <a:pPr>
              <a:spcAft>
                <a:spcPts val="400"/>
              </a:spcAft>
            </a:pPr>
            <a:r>
              <a:rPr sz="1200" b="0">
                <a:solidFill>
                  <a:srgbClr val="323232"/>
                </a:solidFill>
                <a:latin typeface="Segoe UI"/>
              </a:rPr>
              <a:t>• Tier matrix as knowledge (WAF service guides)</a:t>
            </a:r>
          </a:p>
          <a:p>
            <a:pPr>
              <a:spcAft>
                <a:spcPts val="400"/>
              </a:spcAft>
            </a:pPr>
            <a:r>
              <a:rPr sz="1200" b="0">
                <a:solidFill>
                  <a:srgbClr val="323232"/>
                </a:solidFill>
                <a:latin typeface="Segoe UI"/>
              </a:rPr>
              <a:t>• Custom agent waf-reliability; weekly task, Review</a:t>
            </a:r>
          </a:p>
          <a:p>
            <a:pPr>
              <a:spcAft>
                <a:spcPts val="400"/>
              </a:spcAft>
            </a:pPr>
            <a:r>
              <a:rPr sz="1200" b="0">
                <a:solidFill>
                  <a:srgbClr val="323232"/>
                </a:solidFill>
                <a:latin typeface="Segoe UI"/>
              </a:rPr>
              <a:t>• Fault injection stays in Chaos Studio; agent analyses</a:t>
            </a:r>
          </a:p>
        </p:txBody>
      </p:sp>
      <p:sp>
        <p:nvSpPr>
          <p:cNvPr id="8" name="TextBox 7"/>
          <p:cNvSpPr txBox="1"/>
          <p:nvPr/>
        </p:nvSpPr>
        <p:spPr>
          <a:xfrm>
            <a:off x="7929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Measures &amp; benefit</a:t>
            </a:r>
          </a:p>
        </p:txBody>
      </p:sp>
      <p:sp>
        <p:nvSpPr>
          <p:cNvPr id="9" name="TextBox 8"/>
          <p:cNvSpPr txBox="1"/>
          <p:nvPr/>
        </p:nvSpPr>
        <p:spPr>
          <a:xfrm>
            <a:off x="7929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 T1/T2 landing zones meeting tier matrix</a:t>
            </a:r>
          </a:p>
          <a:p>
            <a:pPr>
              <a:spcAft>
                <a:spcPts val="400"/>
              </a:spcAft>
            </a:pPr>
            <a:r>
              <a:rPr sz="1200" b="0">
                <a:solidFill>
                  <a:srgbClr val="323232"/>
                </a:solidFill>
                <a:latin typeface="Segoe UI"/>
              </a:rPr>
              <a:t>• Restore tests within interval</a:t>
            </a:r>
          </a:p>
          <a:p>
            <a:pPr>
              <a:spcAft>
                <a:spcPts val="400"/>
              </a:spcAft>
            </a:pPr>
            <a:r>
              <a:rPr sz="1200" b="0">
                <a:solidFill>
                  <a:srgbClr val="323232"/>
                </a:solidFill>
                <a:latin typeface="Segoe UI"/>
              </a:rPr>
              <a:t>• CCoE: tier promise vs reality</a:t>
            </a:r>
          </a:p>
          <a:p>
            <a:pPr>
              <a:spcAft>
                <a:spcPts val="400"/>
              </a:spcAft>
            </a:pPr>
            <a:r>
              <a:rPr sz="1200" b="0">
                <a:solidFill>
                  <a:srgbClr val="323232"/>
                </a:solidFill>
                <a:latin typeface="Segoe UI"/>
              </a:rPr>
              <a:t>• Teams: find SPOFs before the incident</a:t>
            </a:r>
          </a:p>
        </p:txBody>
      </p:sp>
      <p:sp>
        <p:nvSpPr>
          <p:cNvPr id="10" name="Rounded Rectangle 9"/>
          <p:cNvSpPr/>
          <p:nvPr/>
        </p:nvSpPr>
        <p:spPr>
          <a:xfrm>
            <a:off x="731520" y="5303520"/>
            <a:ext cx="1072896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Pass: non-zonal public IP in a T1 landing zone is flagged with tier rule, failure mode and owner - no change made.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W2 Security - baseline drift &amp; exposure triage</a:t>
            </a:r>
          </a:p>
        </p:txBody>
      </p:sp>
      <p:sp>
        <p:nvSpPr>
          <p:cNvPr id="4" name="TextBox 3"/>
          <p:cNvSpPr txBox="1"/>
          <p:nvPr/>
        </p:nvSpPr>
        <p:spPr>
          <a:xfrm>
            <a:off x="457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Signals</a:t>
            </a:r>
          </a:p>
        </p:txBody>
      </p:sp>
      <p:sp>
        <p:nvSpPr>
          <p:cNvPr id="5" name="TextBox 4"/>
          <p:cNvSpPr txBox="1"/>
          <p:nvPr/>
        </p:nvSpPr>
        <p:spPr>
          <a:xfrm>
            <a:off x="457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Defender for Cloud assessments and secure score</a:t>
            </a:r>
          </a:p>
          <a:p>
            <a:pPr>
              <a:spcAft>
                <a:spcPts val="400"/>
              </a:spcAft>
            </a:pPr>
            <a:r>
              <a:rPr sz="1200" b="0">
                <a:solidFill>
                  <a:srgbClr val="323232"/>
                </a:solidFill>
                <a:latin typeface="Segoe UI"/>
              </a:rPr>
              <a:t>• Policy compliance vs ALZ baseline initiatives</a:t>
            </a:r>
          </a:p>
          <a:p>
            <a:pPr>
              <a:spcAft>
                <a:spcPts val="400"/>
              </a:spcAft>
            </a:pPr>
            <a:r>
              <a:rPr sz="1200" b="0">
                <a:solidFill>
                  <a:srgbClr val="323232"/>
                </a:solidFill>
                <a:latin typeface="Segoe UI"/>
              </a:rPr>
              <a:t>• Public network access enabled on PaaS</a:t>
            </a:r>
          </a:p>
          <a:p>
            <a:pPr>
              <a:spcAft>
                <a:spcPts val="400"/>
              </a:spcAft>
            </a:pPr>
            <a:r>
              <a:rPr sz="1200" b="0">
                <a:solidFill>
                  <a:srgbClr val="323232"/>
                </a:solidFill>
                <a:latin typeface="Segoe UI"/>
              </a:rPr>
              <a:t>• Standing privileged role assignments</a:t>
            </a:r>
          </a:p>
        </p:txBody>
      </p:sp>
      <p:sp>
        <p:nvSpPr>
          <p:cNvPr id="6" name="TextBox 5"/>
          <p:cNvSpPr txBox="1"/>
          <p:nvPr/>
        </p:nvSpPr>
        <p:spPr>
          <a:xfrm>
            <a:off x="4193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Set-up (read-only)</a:t>
            </a:r>
          </a:p>
        </p:txBody>
      </p:sp>
      <p:sp>
        <p:nvSpPr>
          <p:cNvPr id="7" name="TextBox 6"/>
          <p:cNvSpPr txBox="1"/>
          <p:nvPr/>
        </p:nvSpPr>
        <p:spPr>
          <a:xfrm>
            <a:off x="4193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Baseline per archetype (corp/online/AI/AKS) as knowledge</a:t>
            </a:r>
          </a:p>
          <a:p>
            <a:pPr>
              <a:spcAft>
                <a:spcPts val="400"/>
              </a:spcAft>
            </a:pPr>
            <a:r>
              <a:rPr sz="1200" b="0">
                <a:solidFill>
                  <a:srgbClr val="323232"/>
                </a:solidFill>
                <a:latin typeface="Segoe UI"/>
              </a:rPr>
              <a:t>• Custom agent waf-security; daily task, Review</a:t>
            </a:r>
          </a:p>
          <a:p>
            <a:pPr>
              <a:spcAft>
                <a:spcPts val="400"/>
              </a:spcAft>
            </a:pPr>
            <a:r>
              <a:rPr sz="1200" b="0">
                <a:solidFill>
                  <a:srgbClr val="323232"/>
                </a:solidFill>
                <a:latin typeface="Segoe UI"/>
              </a:rPr>
              <a:t>• Classify: drift, exposure, identity, exception expired</a:t>
            </a:r>
          </a:p>
          <a:p>
            <a:pPr>
              <a:spcAft>
                <a:spcPts val="400"/>
              </a:spcAft>
            </a:pPr>
            <a:r>
              <a:rPr sz="1200" b="0">
                <a:solidFill>
                  <a:srgbClr val="323232"/>
                </a:solidFill>
                <a:latin typeface="Segoe UI"/>
              </a:rPr>
              <a:t>• SOC keeps threat detection/response (SE:10, SE:12)</a:t>
            </a:r>
          </a:p>
        </p:txBody>
      </p:sp>
      <p:sp>
        <p:nvSpPr>
          <p:cNvPr id="8" name="TextBox 7"/>
          <p:cNvSpPr txBox="1"/>
          <p:nvPr/>
        </p:nvSpPr>
        <p:spPr>
          <a:xfrm>
            <a:off x="7929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Measures &amp; benefit</a:t>
            </a:r>
          </a:p>
        </p:txBody>
      </p:sp>
      <p:sp>
        <p:nvSpPr>
          <p:cNvPr id="9" name="TextBox 8"/>
          <p:cNvSpPr txBox="1"/>
          <p:nvPr/>
        </p:nvSpPr>
        <p:spPr>
          <a:xfrm>
            <a:off x="7929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Secure-score trend per landing zone</a:t>
            </a:r>
          </a:p>
          <a:p>
            <a:pPr>
              <a:spcAft>
                <a:spcPts val="400"/>
              </a:spcAft>
            </a:pPr>
            <a:r>
              <a:rPr sz="1200" b="0">
                <a:solidFill>
                  <a:srgbClr val="323232"/>
                </a:solidFill>
                <a:latin typeface="Segoe UI"/>
              </a:rPr>
              <a:t>• Time from drift to owner acknowledgement</a:t>
            </a:r>
          </a:p>
          <a:p>
            <a:pPr>
              <a:spcAft>
                <a:spcPts val="400"/>
              </a:spcAft>
            </a:pPr>
            <a:r>
              <a:rPr sz="1200" b="0">
                <a:solidFill>
                  <a:srgbClr val="323232"/>
                </a:solidFill>
                <a:latin typeface="Segoe UI"/>
              </a:rPr>
              <a:t>• CCoE: baseline adherence without manual review</a:t>
            </a:r>
          </a:p>
          <a:p>
            <a:pPr>
              <a:spcAft>
                <a:spcPts val="400"/>
              </a:spcAft>
            </a:pPr>
            <a:r>
              <a:rPr sz="1200" b="0">
                <a:solidFill>
                  <a:srgbClr val="323232"/>
                </a:solidFill>
                <a:latin typeface="Segoe UI"/>
              </a:rPr>
              <a:t>• Teams: triaged, owner-routed findings</a:t>
            </a:r>
          </a:p>
        </p:txBody>
      </p:sp>
      <p:sp>
        <p:nvSpPr>
          <p:cNvPr id="10" name="Rounded Rectangle 9"/>
          <p:cNvSpPr/>
          <p:nvPr/>
        </p:nvSpPr>
        <p:spPr>
          <a:xfrm>
            <a:off x="731520" y="5303520"/>
            <a:ext cx="1072896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Pass: public access on a corp storage account is classified as exposure (SE:06) with owner - no change or exemption by the agent.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W3 Cost Optimization - anomaly &amp; waste review</a:t>
            </a:r>
          </a:p>
        </p:txBody>
      </p:sp>
      <p:sp>
        <p:nvSpPr>
          <p:cNvPr id="4" name="TextBox 3"/>
          <p:cNvSpPr txBox="1"/>
          <p:nvPr/>
        </p:nvSpPr>
        <p:spPr>
          <a:xfrm>
            <a:off x="457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Signals</a:t>
            </a:r>
          </a:p>
        </p:txBody>
      </p:sp>
      <p:sp>
        <p:nvSpPr>
          <p:cNvPr id="5" name="TextBox 4"/>
          <p:cNvSpPr txBox="1"/>
          <p:nvPr/>
        </p:nvSpPr>
        <p:spPr>
          <a:xfrm>
            <a:off x="457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Cost Management anomaly and budget alerts</a:t>
            </a:r>
          </a:p>
          <a:p>
            <a:pPr>
              <a:spcAft>
                <a:spcPts val="400"/>
              </a:spcAft>
            </a:pPr>
            <a:r>
              <a:rPr sz="1200" b="0">
                <a:solidFill>
                  <a:srgbClr val="323232"/>
                </a:solidFill>
                <a:latin typeface="Segoe UI"/>
              </a:rPr>
              <a:t>• Advisor Cost recommendations with savings estimate</a:t>
            </a:r>
          </a:p>
          <a:p>
            <a:pPr>
              <a:spcAft>
                <a:spcPts val="400"/>
              </a:spcAft>
            </a:pPr>
            <a:r>
              <a:rPr sz="1200" b="0">
                <a:solidFill>
                  <a:srgbClr val="323232"/>
                </a:solidFill>
                <a:latin typeface="Segoe UI"/>
              </a:rPr>
              <a:t>• Orphaned disks and public IPs (Resource Graph)</a:t>
            </a:r>
          </a:p>
          <a:p>
            <a:pPr>
              <a:spcAft>
                <a:spcPts val="400"/>
              </a:spcAft>
            </a:pPr>
            <a:r>
              <a:rPr sz="1200" b="0">
                <a:solidFill>
                  <a:srgbClr val="323232"/>
                </a:solidFill>
                <a:latin typeface="Segoe UI"/>
              </a:rPr>
              <a:t>• Log Analytics ingestion per table</a:t>
            </a:r>
          </a:p>
        </p:txBody>
      </p:sp>
      <p:sp>
        <p:nvSpPr>
          <p:cNvPr id="6" name="TextBox 5"/>
          <p:cNvSpPr txBox="1"/>
          <p:nvPr/>
        </p:nvSpPr>
        <p:spPr>
          <a:xfrm>
            <a:off x="4193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Set-up (read-only)</a:t>
            </a:r>
          </a:p>
        </p:txBody>
      </p:sp>
      <p:sp>
        <p:nvSpPr>
          <p:cNvPr id="7" name="TextBox 6"/>
          <p:cNvSpPr txBox="1"/>
          <p:nvPr/>
        </p:nvSpPr>
        <p:spPr>
          <a:xfrm>
            <a:off x="4193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Cost Management Reader or export; budgets in vending</a:t>
            </a:r>
          </a:p>
          <a:p>
            <a:pPr>
              <a:spcAft>
                <a:spcPts val="400"/>
              </a:spcAft>
            </a:pPr>
            <a:r>
              <a:rPr sz="1200" b="0">
                <a:solidFill>
                  <a:srgbClr val="323232"/>
                </a:solidFill>
                <a:latin typeface="Segoe UI"/>
              </a:rPr>
              <a:t>• Custom agent waf-cost; weekly task + anomaly plan</a:t>
            </a:r>
          </a:p>
          <a:p>
            <a:pPr>
              <a:spcAft>
                <a:spcPts val="400"/>
              </a:spcAft>
            </a:pPr>
            <a:r>
              <a:rPr sz="1200" b="0">
                <a:solidFill>
                  <a:srgbClr val="323232"/>
                </a:solidFill>
                <a:latin typeface="Segoe UI"/>
              </a:rPr>
              <a:t>• Explain driver, rank safe options, name owner</a:t>
            </a:r>
          </a:p>
          <a:p>
            <a:pPr>
              <a:spcAft>
                <a:spcPts val="400"/>
              </a:spcAft>
            </a:pPr>
            <a:r>
              <a:rPr sz="1200" b="0">
                <a:solidFill>
                  <a:srgbClr val="323232"/>
                </a:solidFill>
                <a:latin typeface="Segoe UI"/>
              </a:rPr>
              <a:t>• Removal via owner and IaC, never by the agent</a:t>
            </a:r>
          </a:p>
        </p:txBody>
      </p:sp>
      <p:sp>
        <p:nvSpPr>
          <p:cNvPr id="8" name="TextBox 7"/>
          <p:cNvSpPr txBox="1"/>
          <p:nvPr/>
        </p:nvSpPr>
        <p:spPr>
          <a:xfrm>
            <a:off x="7929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Measures &amp; benefit</a:t>
            </a:r>
          </a:p>
        </p:txBody>
      </p:sp>
      <p:sp>
        <p:nvSpPr>
          <p:cNvPr id="9" name="TextBox 8"/>
          <p:cNvSpPr txBox="1"/>
          <p:nvPr/>
        </p:nvSpPr>
        <p:spPr>
          <a:xfrm>
            <a:off x="7929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Time from anomaly to explained driver</a:t>
            </a:r>
          </a:p>
          <a:p>
            <a:pPr>
              <a:spcAft>
                <a:spcPts val="400"/>
              </a:spcAft>
            </a:pPr>
            <a:r>
              <a:rPr sz="1200" b="0">
                <a:solidFill>
                  <a:srgbClr val="323232"/>
                </a:solidFill>
                <a:latin typeface="Segoe UI"/>
              </a:rPr>
              <a:t>• Savings identified vs realized per month</a:t>
            </a:r>
          </a:p>
          <a:p>
            <a:pPr>
              <a:spcAft>
                <a:spcPts val="400"/>
              </a:spcAft>
            </a:pPr>
            <a:r>
              <a:rPr sz="1200" b="0">
                <a:solidFill>
                  <a:srgbClr val="323232"/>
                </a:solidFill>
                <a:latin typeface="Segoe UI"/>
              </a:rPr>
              <a:t>• CCoE: cost accountability per landing zone</a:t>
            </a:r>
          </a:p>
          <a:p>
            <a:pPr>
              <a:spcAft>
                <a:spcPts val="400"/>
              </a:spcAft>
            </a:pPr>
            <a:r>
              <a:rPr sz="1200" b="0">
                <a:solidFill>
                  <a:srgbClr val="323232"/>
                </a:solidFill>
                <a:latin typeface="Segoe UI"/>
              </a:rPr>
              <a:t>• Agent cost vs savings tracked</a:t>
            </a:r>
          </a:p>
        </p:txBody>
      </p:sp>
      <p:sp>
        <p:nvSpPr>
          <p:cNvPr id="10" name="Rounded Rectangle 9"/>
          <p:cNvSpPr/>
          <p:nvPr/>
        </p:nvSpPr>
        <p:spPr>
          <a:xfrm>
            <a:off x="731520" y="5303520"/>
            <a:ext cx="1072896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Pass: orphaned disk, unassociated IP and ingestion spike all listed with savings estimate and owner.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W4 Operational Excellence - deploy gate &amp; drift</a:t>
            </a:r>
          </a:p>
        </p:txBody>
      </p:sp>
      <p:sp>
        <p:nvSpPr>
          <p:cNvPr id="4" name="TextBox 3"/>
          <p:cNvSpPr txBox="1"/>
          <p:nvPr/>
        </p:nvSpPr>
        <p:spPr>
          <a:xfrm>
            <a:off x="457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Signals</a:t>
            </a:r>
          </a:p>
        </p:txBody>
      </p:sp>
      <p:sp>
        <p:nvSpPr>
          <p:cNvPr id="5" name="TextBox 4"/>
          <p:cNvSpPr txBox="1"/>
          <p:nvPr/>
        </p:nvSpPr>
        <p:spPr>
          <a:xfrm>
            <a:off x="457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HTTP trigger from ALZ/vending/AKS pipeline after deploy</a:t>
            </a:r>
          </a:p>
          <a:p>
            <a:pPr>
              <a:spcAft>
                <a:spcPts val="400"/>
              </a:spcAft>
            </a:pPr>
            <a:r>
              <a:rPr sz="1200" b="0">
                <a:solidFill>
                  <a:srgbClr val="323232"/>
                </a:solidFill>
                <a:latin typeface="Segoe UI"/>
              </a:rPr>
              <a:t>• AMBA alerts and health in the post-deploy window</a:t>
            </a:r>
          </a:p>
          <a:p>
            <a:pPr>
              <a:spcAft>
                <a:spcPts val="400"/>
              </a:spcAft>
            </a:pPr>
            <a:r>
              <a:rPr sz="1200" b="0">
                <a:solidFill>
                  <a:srgbClr val="323232"/>
                </a:solidFill>
                <a:latin typeface="Segoe UI"/>
              </a:rPr>
              <a:t>• Resource Graph resourcechanges: changedBy, clientType</a:t>
            </a:r>
          </a:p>
          <a:p>
            <a:pPr>
              <a:spcAft>
                <a:spcPts val="400"/>
              </a:spcAft>
            </a:pPr>
            <a:r>
              <a:rPr sz="1200" b="0">
                <a:solidFill>
                  <a:srgbClr val="323232"/>
                </a:solidFill>
                <a:latin typeface="Segoe UI"/>
              </a:rPr>
              <a:t>• Activity Log for longer history</a:t>
            </a:r>
          </a:p>
        </p:txBody>
      </p:sp>
      <p:sp>
        <p:nvSpPr>
          <p:cNvPr id="6" name="TextBox 5"/>
          <p:cNvSpPr txBox="1"/>
          <p:nvPr/>
        </p:nvSpPr>
        <p:spPr>
          <a:xfrm>
            <a:off x="4193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Set-up (read-only)</a:t>
            </a:r>
          </a:p>
        </p:txBody>
      </p:sp>
      <p:sp>
        <p:nvSpPr>
          <p:cNvPr id="7" name="TextBox 6"/>
          <p:cNvSpPr txBox="1"/>
          <p:nvPr/>
        </p:nvSpPr>
        <p:spPr>
          <a:xfrm>
            <a:off x="4193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Pipeline calls agent; agent returns Healthy / Investigate / Recommend rollback</a:t>
            </a:r>
          </a:p>
          <a:p>
            <a:pPr>
              <a:spcAft>
                <a:spcPts val="400"/>
              </a:spcAft>
            </a:pPr>
            <a:r>
              <a:rPr sz="1200" b="0">
                <a:solidFill>
                  <a:srgbClr val="323232"/>
                </a:solidFill>
                <a:latin typeface="Segoe UI"/>
              </a:rPr>
              <a:t>• Pipeline owner decides; agent never rolls back</a:t>
            </a:r>
          </a:p>
          <a:p>
            <a:pPr>
              <a:spcAft>
                <a:spcPts val="400"/>
              </a:spcAft>
            </a:pPr>
            <a:r>
              <a:rPr sz="1200" b="0">
                <a:solidFill>
                  <a:srgbClr val="323232"/>
                </a:solidFill>
                <a:latin typeface="Segoe UI"/>
              </a:rPr>
              <a:t>• Custom agent waf-opex; daily out-of-band task</a:t>
            </a:r>
          </a:p>
          <a:p>
            <a:pPr>
              <a:spcAft>
                <a:spcPts val="400"/>
              </a:spcAft>
            </a:pPr>
            <a:r>
              <a:rPr sz="1200" b="0">
                <a:solidFill>
                  <a:srgbClr val="323232"/>
                </a:solidFill>
                <a:latin typeface="Segoe UI"/>
              </a:rPr>
              <a:t>• Allow-list approved pipeline identities</a:t>
            </a:r>
          </a:p>
        </p:txBody>
      </p:sp>
      <p:sp>
        <p:nvSpPr>
          <p:cNvPr id="8" name="TextBox 7"/>
          <p:cNvSpPr txBox="1"/>
          <p:nvPr/>
        </p:nvSpPr>
        <p:spPr>
          <a:xfrm>
            <a:off x="7929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Measures &amp; benefit</a:t>
            </a:r>
          </a:p>
        </p:txBody>
      </p:sp>
      <p:sp>
        <p:nvSpPr>
          <p:cNvPr id="9" name="TextBox 8"/>
          <p:cNvSpPr txBox="1"/>
          <p:nvPr/>
        </p:nvSpPr>
        <p:spPr>
          <a:xfrm>
            <a:off x="7929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Change failure rate; time to detect bad deploy</a:t>
            </a:r>
          </a:p>
          <a:p>
            <a:pPr>
              <a:spcAft>
                <a:spcPts val="400"/>
              </a:spcAft>
            </a:pPr>
            <a:r>
              <a:rPr sz="1200" b="0">
                <a:solidFill>
                  <a:srgbClr val="323232"/>
                </a:solidFill>
                <a:latin typeface="Segoe UI"/>
              </a:rPr>
              <a:t>• Out-of-band changes per month (down)</a:t>
            </a:r>
          </a:p>
          <a:p>
            <a:pPr>
              <a:spcAft>
                <a:spcPts val="400"/>
              </a:spcAft>
            </a:pPr>
            <a:r>
              <a:rPr sz="1200" b="0">
                <a:solidFill>
                  <a:srgbClr val="323232"/>
                </a:solidFill>
                <a:latin typeface="Segoe UI"/>
              </a:rPr>
              <a:t>• CCoE: evidence that IaC-only is followed</a:t>
            </a:r>
          </a:p>
          <a:p>
            <a:pPr>
              <a:spcAft>
                <a:spcPts val="400"/>
              </a:spcAft>
            </a:pPr>
            <a:r>
              <a:rPr sz="1200" b="0">
                <a:solidFill>
                  <a:srgbClr val="323232"/>
                </a:solidFill>
                <a:latin typeface="Segoe UI"/>
              </a:rPr>
              <a:t>• Teams: less ClickOps drift</a:t>
            </a:r>
          </a:p>
        </p:txBody>
      </p:sp>
      <p:sp>
        <p:nvSpPr>
          <p:cNvPr id="10" name="Rounded Rectangle 9"/>
          <p:cNvSpPr/>
          <p:nvPr/>
        </p:nvSpPr>
        <p:spPr>
          <a:xfrm>
            <a:off x="731520" y="5303520"/>
            <a:ext cx="1072896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Pass: manual portal NSG change is listed as out-of-band with actor; known AMBA alert yields Investigate.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W5 Performance Efficiency - capacity &amp; quota headroom</a:t>
            </a:r>
          </a:p>
        </p:txBody>
      </p:sp>
      <p:sp>
        <p:nvSpPr>
          <p:cNvPr id="4" name="TextBox 3"/>
          <p:cNvSpPr txBox="1"/>
          <p:nvPr/>
        </p:nvSpPr>
        <p:spPr>
          <a:xfrm>
            <a:off x="457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Signals</a:t>
            </a:r>
          </a:p>
        </p:txBody>
      </p:sp>
      <p:sp>
        <p:nvSpPr>
          <p:cNvPr id="5" name="TextBox 4"/>
          <p:cNvSpPr txBox="1"/>
          <p:nvPr/>
        </p:nvSpPr>
        <p:spPr>
          <a:xfrm>
            <a:off x="457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Compute/AI quota usage vs limits (read-only CLI)</a:t>
            </a:r>
          </a:p>
          <a:p>
            <a:pPr>
              <a:spcAft>
                <a:spcPts val="400"/>
              </a:spcAft>
            </a:pPr>
            <a:r>
              <a:rPr sz="1200" b="0">
                <a:solidFill>
                  <a:srgbClr val="323232"/>
                </a:solidFill>
                <a:latin typeface="Segoe UI"/>
              </a:rPr>
              <a:t>• VNet/subnet IP usage for vending and AKS</a:t>
            </a:r>
          </a:p>
          <a:p>
            <a:pPr>
              <a:spcAft>
                <a:spcPts val="400"/>
              </a:spcAft>
            </a:pPr>
            <a:r>
              <a:rPr sz="1200" b="0">
                <a:solidFill>
                  <a:srgbClr val="323232"/>
                </a:solidFill>
                <a:latin typeface="Segoe UI"/>
              </a:rPr>
              <a:t>• AKS KubeEvents: FailedScheduling, scale failures</a:t>
            </a:r>
          </a:p>
          <a:p>
            <a:pPr>
              <a:spcAft>
                <a:spcPts val="400"/>
              </a:spcAft>
            </a:pPr>
            <a:r>
              <a:rPr sz="1200" b="0">
                <a:solidFill>
                  <a:srgbClr val="323232"/>
                </a:solidFill>
                <a:latin typeface="Segoe UI"/>
              </a:rPr>
              <a:t>• AI 429/throttling and token-per-minute usage</a:t>
            </a:r>
          </a:p>
        </p:txBody>
      </p:sp>
      <p:sp>
        <p:nvSpPr>
          <p:cNvPr id="6" name="TextBox 5"/>
          <p:cNvSpPr txBox="1"/>
          <p:nvPr/>
        </p:nvSpPr>
        <p:spPr>
          <a:xfrm>
            <a:off x="4193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Set-up (read-only)</a:t>
            </a:r>
          </a:p>
        </p:txBody>
      </p:sp>
      <p:sp>
        <p:nvSpPr>
          <p:cNvPr id="7" name="TextBox 6"/>
          <p:cNvSpPr txBox="1"/>
          <p:nvPr/>
        </p:nvSpPr>
        <p:spPr>
          <a:xfrm>
            <a:off x="4193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Capacity plan + thresholds as knowledge</a:t>
            </a:r>
          </a:p>
          <a:p>
            <a:pPr>
              <a:spcAft>
                <a:spcPts val="400"/>
              </a:spcAft>
            </a:pPr>
            <a:r>
              <a:rPr sz="1200" b="0">
                <a:solidFill>
                  <a:srgbClr val="323232"/>
                </a:solidFill>
                <a:latin typeface="Segoe UI"/>
              </a:rPr>
              <a:t>• Custom agent waf-performance; weekly task</a:t>
            </a:r>
          </a:p>
          <a:p>
            <a:pPr>
              <a:spcAft>
                <a:spcPts val="400"/>
              </a:spcAft>
            </a:pPr>
            <a:r>
              <a:rPr sz="1200" b="0">
                <a:solidFill>
                  <a:srgbClr val="323232"/>
                </a:solidFill>
                <a:latin typeface="Segoe UI"/>
              </a:rPr>
              <a:t>• Response plan for throttling / scale-failure alerts</a:t>
            </a:r>
          </a:p>
          <a:p>
            <a:pPr>
              <a:spcAft>
                <a:spcPts val="400"/>
              </a:spcAft>
            </a:pPr>
            <a:r>
              <a:rPr sz="1200" b="0">
                <a:solidFill>
                  <a:srgbClr val="323232"/>
                </a:solidFill>
                <a:latin typeface="Segoe UI"/>
              </a:rPr>
              <a:t>• Quota increases via owner request, not the agent</a:t>
            </a:r>
          </a:p>
        </p:txBody>
      </p:sp>
      <p:sp>
        <p:nvSpPr>
          <p:cNvPr id="8" name="TextBox 7"/>
          <p:cNvSpPr txBox="1"/>
          <p:nvPr/>
        </p:nvSpPr>
        <p:spPr>
          <a:xfrm>
            <a:off x="7929200" y="1188720"/>
            <a:ext cx="3500000" cy="457200"/>
          </a:xfrm>
          <a:prstGeom prst="rect">
            <a:avLst/>
          </a:prstGeom>
          <a:noFill/>
        </p:spPr>
        <p:txBody>
          <a:bodyPr wrap="square">
            <a:spAutoFit/>
          </a:bodyPr>
          <a:lstStyle/>
          <a:p>
            <a:pPr>
              <a:spcAft>
                <a:spcPts val="400"/>
              </a:spcAft>
            </a:pPr>
            <a:r>
              <a:rPr sz="1600" b="1">
                <a:solidFill>
                  <a:srgbClr val="0078D4"/>
                </a:solidFill>
                <a:latin typeface="Segoe UI"/>
              </a:rPr>
              <a:t>Measures &amp; benefit</a:t>
            </a:r>
          </a:p>
        </p:txBody>
      </p:sp>
      <p:sp>
        <p:nvSpPr>
          <p:cNvPr id="9" name="TextBox 8"/>
          <p:cNvSpPr txBox="1"/>
          <p:nvPr/>
        </p:nvSpPr>
        <p:spPr>
          <a:xfrm>
            <a:off x="7929200" y="1688720"/>
            <a:ext cx="3500000" cy="3500000"/>
          </a:xfrm>
          <a:prstGeom prst="rect">
            <a:avLst/>
          </a:prstGeom>
          <a:noFill/>
        </p:spPr>
        <p:txBody>
          <a:bodyPr wrap="square">
            <a:spAutoFit/>
          </a:bodyPr>
          <a:lstStyle/>
          <a:p>
            <a:pPr>
              <a:spcAft>
                <a:spcPts val="400"/>
              </a:spcAft>
            </a:pPr>
            <a:r>
              <a:rPr sz="1200" b="0">
                <a:solidFill>
                  <a:srgbClr val="323232"/>
                </a:solidFill>
                <a:latin typeface="Segoe UI"/>
              </a:rPr>
              <a:t>• Limits above warning threshold</a:t>
            </a:r>
          </a:p>
          <a:p>
            <a:pPr>
              <a:spcAft>
                <a:spcPts val="400"/>
              </a:spcAft>
            </a:pPr>
            <a:r>
              <a:rPr sz="1200" b="0">
                <a:solidFill>
                  <a:srgbClr val="323232"/>
                </a:solidFill>
                <a:latin typeface="Segoe UI"/>
              </a:rPr>
              <a:t>• Incidents from quota/address exhaustion: target 0</a:t>
            </a:r>
          </a:p>
          <a:p>
            <a:pPr>
              <a:spcAft>
                <a:spcPts val="400"/>
              </a:spcAft>
            </a:pPr>
            <a:r>
              <a:rPr sz="1200" b="0">
                <a:solidFill>
                  <a:srgbClr val="323232"/>
                </a:solidFill>
                <a:latin typeface="Segoe UI"/>
              </a:rPr>
              <a:t>• CCoE: scale vending without capacity surprises</a:t>
            </a:r>
          </a:p>
          <a:p>
            <a:pPr>
              <a:spcAft>
                <a:spcPts val="400"/>
              </a:spcAft>
            </a:pPr>
            <a:r>
              <a:rPr sz="1200" b="0">
                <a:solidFill>
                  <a:srgbClr val="323232"/>
                </a:solidFill>
                <a:latin typeface="Segoe UI"/>
              </a:rPr>
              <a:t>• AI/AKS teams: early warnings</a:t>
            </a:r>
          </a:p>
        </p:txBody>
      </p:sp>
      <p:sp>
        <p:nvSpPr>
          <p:cNvPr id="10" name="Rounded Rectangle 9"/>
          <p:cNvSpPr/>
          <p:nvPr/>
        </p:nvSpPr>
        <p:spPr>
          <a:xfrm>
            <a:off x="731520" y="5303520"/>
            <a:ext cx="1072896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Segoe UI"/>
              </a:rPr>
              <a:t>Pass: pods beyond node-pool max are reported as FailedScheduling with owner and next action.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Reference deployment: one read-only platform agent</a:t>
            </a:r>
          </a:p>
        </p:txBody>
      </p:sp>
      <p:sp>
        <p:nvSpPr>
          <p:cNvPr id="4" name="TextBox 3"/>
          <p:cNvSpPr txBox="1"/>
          <p:nvPr/>
        </p:nvSpPr>
        <p:spPr>
          <a:xfrm>
            <a:off x="731520" y="1280160"/>
            <a:ext cx="10515600" cy="5029200"/>
          </a:xfrm>
          <a:prstGeom prst="rect">
            <a:avLst/>
          </a:prstGeom>
          <a:noFill/>
        </p:spPr>
        <p:txBody>
          <a:bodyPr wrap="square">
            <a:spAutoFit/>
          </a:bodyPr>
          <a:lstStyle/>
          <a:p>
            <a:pPr>
              <a:spcBef>
                <a:spcPts val="800"/>
              </a:spcBef>
              <a:spcAft>
                <a:spcPts val="400"/>
              </a:spcAft>
            </a:pPr>
            <a:r>
              <a:rPr sz="1600" b="0" i="0">
                <a:solidFill>
                  <a:srgbClr val="323232"/>
                </a:solidFill>
                <a:latin typeface="Segoe UI"/>
              </a:rPr>
              <a:t>• Sweden Central: lowest EU AAU tier; West Europe not offered for the agent resource.</a:t>
            </a:r>
          </a:p>
          <a:p>
            <a:pPr>
              <a:spcBef>
                <a:spcPts val="800"/>
              </a:spcBef>
              <a:spcAft>
                <a:spcPts val="400"/>
              </a:spcAft>
            </a:pPr>
            <a:r>
              <a:rPr sz="1600" b="0" i="0">
                <a:solidFill>
                  <a:srgbClr val="323232"/>
                </a:solidFill>
                <a:latin typeface="Segoe UI"/>
              </a:rPr>
              <a:t>• Bicep: agent, identity, workspace, App Insights; subscription Reader only; verify effective roles.</a:t>
            </a:r>
          </a:p>
          <a:p>
            <a:pPr>
              <a:spcBef>
                <a:spcPts val="800"/>
              </a:spcBef>
              <a:spcAft>
                <a:spcPts val="400"/>
              </a:spcAft>
            </a:pPr>
            <a:r>
              <a:rPr sz="1600" b="0" i="0">
                <a:solidFill>
                  <a:srgbClr val="323232"/>
                </a:solidFill>
                <a:latin typeface="Segoe UI"/>
              </a:rPr>
              <a:t>• Incident platform Azure Monitor; connectors: alerts plus ALZ and AKS Log Analytics workspaces.</a:t>
            </a:r>
          </a:p>
          <a:p>
            <a:pPr>
              <a:spcBef>
                <a:spcPts val="800"/>
              </a:spcBef>
              <a:spcAft>
                <a:spcPts val="400"/>
              </a:spcAft>
            </a:pPr>
            <a:r>
              <a:rPr sz="1600" b="0" i="0">
                <a:solidFill>
                  <a:srgbClr val="323232"/>
                </a:solidFill>
                <a:latin typeface="Segoe UI"/>
              </a:rPr>
              <a:t>• Data-plane script: 13 custom agents, 8 scheduled tasks, 8 response plans, 4 knowledge files.</a:t>
            </a:r>
          </a:p>
          <a:p>
            <a:pPr>
              <a:spcBef>
                <a:spcPts val="800"/>
              </a:spcBef>
              <a:spcAft>
                <a:spcPts val="400"/>
              </a:spcAft>
            </a:pPr>
            <a:r>
              <a:rPr sz="1600" b="0" i="0">
                <a:solidFill>
                  <a:srgbClr val="323232"/>
                </a:solidFill>
                <a:latin typeface="Segoe UI"/>
              </a:rPr>
              <a:t>• Guardrails: Review mode, no write roles, 2,000 AAU cap: maximum about EUR 477/month.</a:t>
            </a:r>
          </a:p>
          <a:p>
            <a:pPr>
              <a:spcBef>
                <a:spcPts val="800"/>
              </a:spcBef>
              <a:spcAft>
                <a:spcPts val="400"/>
              </a:spcAft>
            </a:pPr>
            <a:r>
              <a:rPr sz="1600" b="0" i="0">
                <a:solidFill>
                  <a:srgbClr val="323232"/>
                </a:solidFill>
                <a:latin typeface="Segoe UI"/>
              </a:rPr>
              <a:t>• Proven: deploy and read-back. Still open: reviewed task output, pipeline HTTP triggers.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What is configured: routing, cadence and lessons</a:t>
            </a:r>
          </a:p>
        </p:txBody>
      </p:sp>
      <p:graphicFrame>
        <p:nvGraphicFramePr>
          <p:cNvPr id="4" name="Table 3"/>
          <p:cNvGraphicFramePr>
            <a:graphicFrameLocks noGrp="1"/>
          </p:cNvGraphicFramePr>
          <p:nvPr/>
        </p:nvGraphicFramePr>
        <p:xfrm>
          <a:off x="731520" y="1188720"/>
          <a:ext cx="10515600" cy="3080000"/>
        </p:xfrm>
        <a:graphic>
          <a:graphicData uri="http://schemas.openxmlformats.org/drawingml/2006/table">
            <a:tbl>
              <a:tblPr firstRow="1" bandRow="1">
                <a:tableStyleId>{5C22544A-7EE6-4342-B048-85BDC9FD1C3A}</a:tableStyleId>
              </a:tblPr>
              <a:tblGrid>
                <a:gridCol w="2286000"/>
                <a:gridCol w="6096000"/>
                <a:gridCol w="2133600"/>
              </a:tblGrid>
              <a:tr h="440000">
                <a:tc>
                  <a:txBody>
                    <a:bodyPr/>
                    <a:lstStyle/>
                    <a:p>
                      <a:r>
                        <a:rPr sz="1100" b="1">
                          <a:solidFill>
                            <a:srgbClr val="FFFFFF"/>
                          </a:solidFill>
                          <a:latin typeface="Segoe UI"/>
                        </a:rPr>
                        <a:t>Element</a:t>
                      </a:r>
                    </a:p>
                  </a:txBody>
                  <a:tcPr>
                    <a:solidFill>
                      <a:srgbClr val="0078D4"/>
                    </a:solidFill>
                  </a:tcPr>
                </a:tc>
                <a:tc>
                  <a:txBody>
                    <a:bodyPr/>
                    <a:lstStyle/>
                    <a:p>
                      <a:r>
                        <a:rPr sz="1100" b="1">
                          <a:solidFill>
                            <a:srgbClr val="FFFFFF"/>
                          </a:solidFill>
                          <a:latin typeface="Segoe UI"/>
                        </a:rPr>
                        <a:t>Configuration (all Review mode)</a:t>
                      </a:r>
                    </a:p>
                  </a:txBody>
                  <a:tcPr>
                    <a:solidFill>
                      <a:srgbClr val="0078D4"/>
                    </a:solidFill>
                  </a:tcPr>
                </a:tc>
                <a:tc>
                  <a:txBody>
                    <a:bodyPr/>
                    <a:lstStyle/>
                    <a:p>
                      <a:r>
                        <a:rPr sz="1100" b="1">
                          <a:solidFill>
                            <a:srgbClr val="FFFFFF"/>
                          </a:solidFill>
                          <a:latin typeface="Segoe UI"/>
                        </a:rPr>
                        <a:t>Use cases</a:t>
                      </a:r>
                    </a:p>
                  </a:txBody>
                  <a:tcPr>
                    <a:solidFill>
                      <a:srgbClr val="0078D4"/>
                    </a:solidFill>
                  </a:tcPr>
                </a:tc>
              </a:tr>
              <a:tr h="440000">
                <a:tc>
                  <a:txBody>
                    <a:bodyPr/>
                    <a:lstStyle/>
                    <a:p>
                      <a:r>
                        <a:rPr sz="1100" b="0">
                          <a:solidFill>
                            <a:srgbClr val="323232"/>
                          </a:solidFill>
                          <a:latin typeface="Segoe UI"/>
                        </a:rPr>
                        <a:t>Response plans</a:t>
                      </a:r>
                    </a:p>
                  </a:txBody>
                  <a:tcPr>
                    <a:solidFill>
                      <a:srgbClr val="FFFFFF"/>
                    </a:solidFill>
                  </a:tcPr>
                </a:tc>
                <a:tc>
                  <a:txBody>
                    <a:bodyPr/>
                    <a:lstStyle/>
                    <a:p>
                      <a:r>
                        <a:rPr sz="1100" b="0">
                          <a:solidFill>
                            <a:srgbClr val="323232"/>
                          </a:solidFill>
                          <a:latin typeface="Segoe UI"/>
                        </a:rPr>
                        <a:t>ServiceHealth &gt; orchestrator; ResourceHealth &gt; waf-reliability; AKS, AI, firewall, gateways, backup, workspace &gt; domain agents</a:t>
                      </a:r>
                    </a:p>
                  </a:txBody>
                  <a:tcPr>
                    <a:solidFill>
                      <a:srgbClr val="FFFFFF"/>
                    </a:solidFill>
                  </a:tcPr>
                </a:tc>
                <a:tc>
                  <a:txBody>
                    <a:bodyPr/>
                    <a:lstStyle/>
                    <a:p>
                      <a:r>
                        <a:rPr sz="1100" b="0">
                          <a:solidFill>
                            <a:srgbClr val="323232"/>
                          </a:solidFill>
                          <a:latin typeface="Segoe UI"/>
                        </a:rPr>
                        <a:t>UC03-05, UC07-08, UC10, W1</a:t>
                      </a:r>
                    </a:p>
                  </a:txBody>
                  <a:tcPr>
                    <a:solidFill>
                      <a:srgbClr val="FFFFFF"/>
                    </a:solidFill>
                  </a:tcPr>
                </a:tc>
              </a:tr>
              <a:tr h="440000">
                <a:tc>
                  <a:txBody>
                    <a:bodyPr/>
                    <a:lstStyle/>
                    <a:p>
                      <a:r>
                        <a:rPr sz="1100" b="0">
                          <a:solidFill>
                            <a:srgbClr val="323232"/>
                          </a:solidFill>
                          <a:latin typeface="Segoe UI"/>
                        </a:rPr>
                        <a:t>Daily tasks (Mon-Fri)</a:t>
                      </a:r>
                    </a:p>
                  </a:txBody>
                  <a:tcPr>
                    <a:solidFill>
                      <a:srgbClr val="F3F7FC"/>
                    </a:solidFill>
                  </a:tcPr>
                </a:tc>
                <a:tc>
                  <a:txBody>
                    <a:bodyPr/>
                    <a:lstStyle/>
                    <a:p>
                      <a:r>
                        <a:rPr sz="1100" b="0">
                          <a:solidFill>
                            <a:srgbClr val="323232"/>
                          </a:solidFill>
                          <a:latin typeface="Segoe UI"/>
                        </a:rPr>
                        <a:t>Security drift 06:00; out-of-band changes 06:30 UTC</a:t>
                      </a:r>
                    </a:p>
                  </a:txBody>
                  <a:tcPr>
                    <a:solidFill>
                      <a:srgbClr val="F3F7FC"/>
                    </a:solidFill>
                  </a:tcPr>
                </a:tc>
                <a:tc>
                  <a:txBody>
                    <a:bodyPr/>
                    <a:lstStyle/>
                    <a:p>
                      <a:r>
                        <a:rPr sz="1100" b="0">
                          <a:solidFill>
                            <a:srgbClr val="323232"/>
                          </a:solidFill>
                          <a:latin typeface="Segoe UI"/>
                        </a:rPr>
                        <a:t>W2, W4</a:t>
                      </a:r>
                    </a:p>
                  </a:txBody>
                  <a:tcPr>
                    <a:solidFill>
                      <a:srgbClr val="F3F7FC"/>
                    </a:solidFill>
                  </a:tcPr>
                </a:tc>
              </a:tr>
              <a:tr h="440000">
                <a:tc>
                  <a:txBody>
                    <a:bodyPr/>
                    <a:lstStyle/>
                    <a:p>
                      <a:r>
                        <a:rPr sz="1100" b="0">
                          <a:solidFill>
                            <a:srgbClr val="323232"/>
                          </a:solidFill>
                          <a:latin typeface="Segoe UI"/>
                        </a:rPr>
                        <a:t>Weekly tasks</a:t>
                      </a:r>
                    </a:p>
                  </a:txBody>
                  <a:tcPr>
                    <a:solidFill>
                      <a:srgbClr val="FFFFFF"/>
                    </a:solidFill>
                  </a:tcPr>
                </a:tc>
                <a:tc>
                  <a:txBody>
                    <a:bodyPr/>
                    <a:lstStyle/>
                    <a:p>
                      <a:r>
                        <a:rPr sz="1100" b="0">
                          <a:solidFill>
                            <a:srgbClr val="323232"/>
                          </a:solidFill>
                          <a:latin typeface="Segoe UI"/>
                        </a:rPr>
                        <a:t>Mon reliability; Tue cost waste; Wed capacity; Thu blind spots; Fri backup</a:t>
                      </a:r>
                    </a:p>
                  </a:txBody>
                  <a:tcPr>
                    <a:solidFill>
                      <a:srgbClr val="FFFFFF"/>
                    </a:solidFill>
                  </a:tcPr>
                </a:tc>
                <a:tc>
                  <a:txBody>
                    <a:bodyPr/>
                    <a:lstStyle/>
                    <a:p>
                      <a:r>
                        <a:rPr sz="1100" b="0">
                          <a:solidFill>
                            <a:srgbClr val="323232"/>
                          </a:solidFill>
                          <a:latin typeface="Segoe UI"/>
                        </a:rPr>
                        <a:t>W1, W3, W5, UC05, UC10</a:t>
                      </a:r>
                    </a:p>
                  </a:txBody>
                  <a:tcPr>
                    <a:solidFill>
                      <a:srgbClr val="FFFFFF"/>
                    </a:solidFill>
                  </a:tcPr>
                </a:tc>
              </a:tr>
              <a:tr h="440000">
                <a:tc>
                  <a:txBody>
                    <a:bodyPr/>
                    <a:lstStyle/>
                    <a:p>
                      <a:r>
                        <a:rPr sz="1100" b="0">
                          <a:solidFill>
                            <a:srgbClr val="323232"/>
                          </a:solidFill>
                          <a:latin typeface="Segoe UI"/>
                        </a:rPr>
                        <a:t>Monthly task</a:t>
                      </a:r>
                    </a:p>
                  </a:txBody>
                  <a:tcPr>
                    <a:solidFill>
                      <a:srgbClr val="F3F7FC"/>
                    </a:solidFill>
                  </a:tcPr>
                </a:tc>
                <a:tc>
                  <a:txBody>
                    <a:bodyPr/>
                    <a:lstStyle/>
                    <a:p>
                      <a:r>
                        <a:rPr sz="1100" b="0">
                          <a:solidFill>
                            <a:srgbClr val="323232"/>
                          </a:solidFill>
                          <a:latin typeface="Segoe UI"/>
                        </a:rPr>
                        <a:t>Incident-to-WAF backlog, 1st of month 08:00 UTC</a:t>
                      </a:r>
                    </a:p>
                  </a:txBody>
                  <a:tcPr>
                    <a:solidFill>
                      <a:srgbClr val="F3F7FC"/>
                    </a:solidFill>
                  </a:tcPr>
                </a:tc>
                <a:tc>
                  <a:txBody>
                    <a:bodyPr/>
                    <a:lstStyle/>
                    <a:p>
                      <a:r>
                        <a:rPr sz="1100" b="0">
                          <a:solidFill>
                            <a:srgbClr val="323232"/>
                          </a:solidFill>
                          <a:latin typeface="Segoe UI"/>
                        </a:rPr>
                        <a:t>UC12</a:t>
                      </a:r>
                    </a:p>
                  </a:txBody>
                  <a:tcPr>
                    <a:solidFill>
                      <a:srgbClr val="F3F7FC"/>
                    </a:solidFill>
                  </a:tcPr>
                </a:tc>
              </a:tr>
              <a:tr h="440000">
                <a:tc>
                  <a:txBody>
                    <a:bodyPr/>
                    <a:lstStyle/>
                    <a:p>
                      <a:r>
                        <a:rPr sz="1100" b="0">
                          <a:solidFill>
                            <a:srgbClr val="323232"/>
                          </a:solidFill>
                          <a:latin typeface="Segoe UI"/>
                        </a:rPr>
                        <a:t>Custom agents</a:t>
                      </a:r>
                    </a:p>
                  </a:txBody>
                  <a:tcPr>
                    <a:solidFill>
                      <a:srgbClr val="FFFFFF"/>
                    </a:solidFill>
                  </a:tcPr>
                </a:tc>
                <a:tc>
                  <a:txBody>
                    <a:bodyPr/>
                    <a:lstStyle/>
                    <a:p>
                      <a:r>
                        <a:rPr sz="1100" b="0">
                          <a:solidFill>
                            <a:srgbClr val="323232"/>
                          </a:solidFill>
                          <a:latin typeface="Segoe UI"/>
                        </a:rPr>
                        <a:t>Orchestrator + 7 domain + 5 WAF pillar agents, read-only tools</a:t>
                      </a:r>
                    </a:p>
                  </a:txBody>
                  <a:tcPr>
                    <a:solidFill>
                      <a:srgbClr val="FFFFFF"/>
                    </a:solidFill>
                  </a:tcPr>
                </a:tc>
                <a:tc>
                  <a:txBody>
                    <a:bodyPr/>
                    <a:lstStyle/>
                    <a:p>
                      <a:r>
                        <a:rPr sz="1100" b="0">
                          <a:solidFill>
                            <a:srgbClr val="323232"/>
                          </a:solidFill>
                          <a:latin typeface="Segoe UI"/>
                        </a:rPr>
                        <a:t>All</a:t>
                      </a:r>
                    </a:p>
                  </a:txBody>
                  <a:tcPr>
                    <a:solidFill>
                      <a:srgbClr val="FFFFFF"/>
                    </a:solidFill>
                  </a:tcPr>
                </a:tc>
              </a:tr>
              <a:tr h="440000">
                <a:tc>
                  <a:txBody>
                    <a:bodyPr/>
                    <a:lstStyle/>
                    <a:p>
                      <a:r>
                        <a:rPr sz="1100" b="0">
                          <a:solidFill>
                            <a:srgbClr val="323232"/>
                          </a:solidFill>
                          <a:latin typeface="Segoe UI"/>
                        </a:rPr>
                        <a:t>Still to wire</a:t>
                      </a:r>
                    </a:p>
                  </a:txBody>
                  <a:tcPr>
                    <a:solidFill>
                      <a:srgbClr val="F3F7FC"/>
                    </a:solidFill>
                  </a:tcPr>
                </a:tc>
                <a:tc>
                  <a:txBody>
                    <a:bodyPr/>
                    <a:lstStyle/>
                    <a:p>
                      <a:r>
                        <a:rPr sz="1100" b="0">
                          <a:solidFill>
                            <a:srgbClr val="323232"/>
                          </a:solidFill>
                          <a:latin typeface="Segoe UI"/>
                        </a:rPr>
                        <a:t>HTTP triggers from vending and AKS pipelines</a:t>
                      </a:r>
                    </a:p>
                  </a:txBody>
                  <a:tcPr>
                    <a:solidFill>
                      <a:srgbClr val="F3F7FC"/>
                    </a:solidFill>
                  </a:tcPr>
                </a:tc>
                <a:tc>
                  <a:txBody>
                    <a:bodyPr/>
                    <a:lstStyle/>
                    <a:p>
                      <a:r>
                        <a:rPr sz="1100" b="0">
                          <a:solidFill>
                            <a:srgbClr val="323232"/>
                          </a:solidFill>
                          <a:latin typeface="Segoe UI"/>
                        </a:rPr>
                        <a:t>UC01, UC06, UC09</a:t>
                      </a:r>
                    </a:p>
                  </a:txBody>
                  <a:tcPr>
                    <a:solidFill>
                      <a:srgbClr val="F3F7FC"/>
                    </a:solidFill>
                  </a:tcPr>
                </a:tc>
              </a:tr>
            </a:tbl>
          </a:graphicData>
        </a:graphic>
      </p:graphicFrame>
      <p:sp>
        <p:nvSpPr>
          <p:cNvPr id="4" name="TextBox 3"/>
          <p:cNvSpPr txBox="1"/>
          <p:nvPr/>
        </p:nvSpPr>
        <p:spPr>
          <a:xfrm>
            <a:off x="731520" y="4480560"/>
            <a:ext cx="10515600" cy="1097280"/>
          </a:xfrm>
          <a:prstGeom prst="rect">
            <a:avLst/>
          </a:prstGeom>
          <a:noFill/>
        </p:spPr>
        <p:txBody>
          <a:bodyPr wrap="square">
            <a:spAutoFit/>
          </a:bodyPr>
          <a:lstStyle/>
          <a:p>
            <a:pPr>
              <a:spcBef>
                <a:spcPts val="800"/>
              </a:spcBef>
              <a:spcAft>
                <a:spcPts val="400"/>
              </a:spcAft>
            </a:pPr>
            <a:r>
              <a:rPr sz="1400" b="0" i="0">
                <a:solidFill>
                  <a:srgbClr val="323232"/>
                </a:solidFill>
                <a:latin typeface="Segoe UI"/>
              </a:rPr>
              <a:t>• Workspace mode rejects agent hand-offs: orchestrate with subagents.</a:t>
            </a:r>
          </a:p>
          <a:p>
            <a:pPr>
              <a:spcBef>
                <a:spcPts val="800"/>
              </a:spcBef>
              <a:spcAft>
                <a:spcPts val="400"/>
              </a:spcAft>
            </a:pPr>
            <a:r>
              <a:rPr sz="1400" b="0" i="0">
                <a:solidFill>
                  <a:srgbClr val="323232"/>
                </a:solidFill>
                <a:latin typeface="Segoe UI"/>
              </a:rPr>
              <a:t>• Delete the portal quickstart plan; it can double-route incidents.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Demo path: trigger, observe, propose</a:t>
            </a:r>
          </a:p>
        </p:txBody>
      </p:sp>
      <p:graphicFrame>
        <p:nvGraphicFramePr>
          <p:cNvPr id="4" name="Table 3"/>
          <p:cNvGraphicFramePr>
            <a:graphicFrameLocks noGrp="1"/>
          </p:cNvGraphicFramePr>
          <p:nvPr/>
        </p:nvGraphicFramePr>
        <p:xfrm>
          <a:off x="609600" y="1143000"/>
          <a:ext cx="10972800" cy="4320000"/>
        </p:xfrm>
        <a:graphic>
          <a:graphicData uri="http://schemas.openxmlformats.org/drawingml/2006/table">
            <a:tbl>
              <a:tblPr firstRow="1" bandRow="1">
                <a:tableStyleId>{5C22544A-7EE6-4342-B048-85BDC9FD1C3A}</a:tableStyleId>
              </a:tblPr>
              <a:tblGrid>
                <a:gridCol w="2011680"/>
                <a:gridCol w="3017520"/>
                <a:gridCol w="2743200"/>
                <a:gridCol w="3200400"/>
              </a:tblGrid>
              <a:tr h="480000">
                <a:tc>
                  <a:txBody>
                    <a:bodyPr/>
                    <a:lstStyle/>
                    <a:p>
                      <a:r>
                        <a:rPr sz="1100" b="1">
                          <a:solidFill>
                            <a:srgbClr val="FFFFFF"/>
                          </a:solidFill>
                          <a:latin typeface="Segoe UI"/>
                        </a:rPr>
                        <a:t>Demo</a:t>
                      </a:r>
                    </a:p>
                  </a:txBody>
                  <a:tcPr>
                    <a:solidFill>
                      <a:srgbClr val="0078D4"/>
                    </a:solidFill>
                  </a:tcPr>
                </a:tc>
                <a:tc>
                  <a:txBody>
                    <a:bodyPr/>
                    <a:lstStyle/>
                    <a:p>
                      <a:r>
                        <a:rPr sz="1100" b="1">
                          <a:solidFill>
                            <a:srgbClr val="FFFFFF"/>
                          </a:solidFill>
                          <a:latin typeface="Segoe UI"/>
                        </a:rPr>
                        <a:t>Trigger action</a:t>
                      </a:r>
                    </a:p>
                  </a:txBody>
                  <a:tcPr>
                    <a:solidFill>
                      <a:srgbClr val="0078D4"/>
                    </a:solidFill>
                  </a:tcPr>
                </a:tc>
                <a:tc>
                  <a:txBody>
                    <a:bodyPr/>
                    <a:lstStyle/>
                    <a:p>
                      <a:r>
                        <a:rPr sz="1100" b="1">
                          <a:solidFill>
                            <a:srgbClr val="FFFFFF"/>
                          </a:solidFill>
                          <a:latin typeface="Segoe UI"/>
                        </a:rPr>
                        <a:t>Agent path</a:t>
                      </a:r>
                    </a:p>
                  </a:txBody>
                  <a:tcPr>
                    <a:solidFill>
                      <a:srgbClr val="0078D4"/>
                    </a:solidFill>
                  </a:tcPr>
                </a:tc>
                <a:tc>
                  <a:txBody>
                    <a:bodyPr/>
                    <a:lstStyle/>
                    <a:p>
                      <a:r>
                        <a:rPr sz="1100" b="1">
                          <a:solidFill>
                            <a:srgbClr val="FFFFFF"/>
                          </a:solidFill>
                          <a:latin typeface="Segoe UI"/>
                        </a:rPr>
                        <a:t>Expected result and proposal</a:t>
                      </a:r>
                    </a:p>
                  </a:txBody>
                  <a:tcPr>
                    <a:solidFill>
                      <a:srgbClr val="0078D4"/>
                    </a:solidFill>
                  </a:tcPr>
                </a:tc>
              </a:tr>
              <a:tr h="480000">
                <a:tc>
                  <a:txBody>
                    <a:bodyPr/>
                    <a:lstStyle/>
                    <a:p>
                      <a:r>
                        <a:rPr sz="1100" b="0">
                          <a:solidFill>
                            <a:srgbClr val="323232"/>
                          </a:solidFill>
                          <a:latin typeface="Segoe UI"/>
                        </a:rPr>
                        <a:t>0 Intake (AMBA)</a:t>
                      </a:r>
                    </a:p>
                  </a:txBody>
                  <a:tcPr>
                    <a:solidFill>
                      <a:srgbClr val="FFFFFF"/>
                    </a:solidFill>
                  </a:tcPr>
                </a:tc>
                <a:tc>
                  <a:txBody>
                    <a:bodyPr/>
                    <a:lstStyle/>
                    <a:p>
                      <a:r>
                        <a:rPr sz="1100" b="0">
                          <a:solidFill>
                            <a:srgbClr val="323232"/>
                          </a:solidFill>
                          <a:latin typeface="Segoe UI"/>
                        </a:rPr>
                        <a:t>Regenerate demo workspace key</a:t>
                      </a:r>
                    </a:p>
                  </a:txBody>
                  <a:tcPr>
                    <a:solidFill>
                      <a:srgbClr val="FFFFFF"/>
                    </a:solidFill>
                  </a:tcPr>
                </a:tc>
                <a:tc>
                  <a:txBody>
                    <a:bodyPr/>
                    <a:lstStyle/>
                    <a:p>
                      <a:r>
                        <a:rPr sz="1100" b="0">
                          <a:solidFill>
                            <a:srgbClr val="323232"/>
                          </a:solidFill>
                          <a:latin typeface="Segoe UI"/>
                        </a:rPr>
                        <a:t>rp-log-analytics &gt; observability</a:t>
                      </a:r>
                    </a:p>
                  </a:txBody>
                  <a:tcPr>
                    <a:solidFill>
                      <a:srgbClr val="FFFFFF"/>
                    </a:solidFill>
                  </a:tcPr>
                </a:tc>
                <a:tc>
                  <a:txBody>
                    <a:bodyPr/>
                    <a:lstStyle/>
                    <a:p>
                      <a:r>
                        <a:rPr sz="1100" b="0">
                          <a:solidFill>
                            <a:srgbClr val="323232"/>
                          </a:solidFill>
                          <a:latin typeface="Segoe UI"/>
                        </a:rPr>
                        <a:t>Caller and impact; disable local auth (SE:05)</a:t>
                      </a:r>
                    </a:p>
                  </a:txBody>
                  <a:tcPr>
                    <a:solidFill>
                      <a:srgbClr val="FFFFFF"/>
                    </a:solidFill>
                  </a:tcPr>
                </a:tc>
              </a:tr>
              <a:tr h="480000">
                <a:tc>
                  <a:txBody>
                    <a:bodyPr/>
                    <a:lstStyle/>
                    <a:p>
                      <a:r>
                        <a:rPr sz="1100" b="0">
                          <a:solidFill>
                            <a:srgbClr val="323232"/>
                          </a:solidFill>
                          <a:latin typeface="Segoe UI"/>
                        </a:rPr>
                        <a:t>1 ALZ guardrails</a:t>
                      </a:r>
                    </a:p>
                  </a:txBody>
                  <a:tcPr>
                    <a:solidFill>
                      <a:srgbClr val="F3F7FC"/>
                    </a:solidFill>
                  </a:tcPr>
                </a:tc>
                <a:tc>
                  <a:txBody>
                    <a:bodyPr/>
                    <a:lstStyle/>
                    <a:p>
                      <a:r>
                        <a:rPr sz="1100" b="0">
                          <a:solidFill>
                            <a:srgbClr val="323232"/>
                          </a:solidFill>
                          <a:latin typeface="Segoe UI"/>
                        </a:rPr>
                        <a:t>Chat: landing-zone readiness</a:t>
                      </a:r>
                    </a:p>
                  </a:txBody>
                  <a:tcPr>
                    <a:solidFill>
                      <a:srgbClr val="F3F7FC"/>
                    </a:solidFill>
                  </a:tcPr>
                </a:tc>
                <a:tc>
                  <a:txBody>
                    <a:bodyPr/>
                    <a:lstStyle/>
                    <a:p>
                      <a:r>
                        <a:rPr sz="1100" b="0">
                          <a:solidFill>
                            <a:srgbClr val="323232"/>
                          </a:solidFill>
                          <a:latin typeface="Segoe UI"/>
                        </a:rPr>
                        <a:t>vending-governance</a:t>
                      </a:r>
                    </a:p>
                  </a:txBody>
                  <a:tcPr>
                    <a:solidFill>
                      <a:srgbClr val="F3F7FC"/>
                    </a:solidFill>
                  </a:tcPr>
                </a:tc>
                <a:tc>
                  <a:txBody>
                    <a:bodyPr/>
                    <a:lstStyle/>
                    <a:p>
                      <a:r>
                        <a:rPr sz="1100" b="0">
                          <a:solidFill>
                            <a:srgbClr val="323232"/>
                          </a:solidFill>
                          <a:latin typeface="Segoe UI"/>
                        </a:rPr>
                        <a:t>MG placed, no ALZ policies; assign at MG</a:t>
                      </a:r>
                    </a:p>
                  </a:txBody>
                  <a:tcPr>
                    <a:solidFill>
                      <a:srgbClr val="F3F7FC"/>
                    </a:solidFill>
                  </a:tcPr>
                </a:tc>
              </a:tr>
              <a:tr h="480000">
                <a:tc>
                  <a:txBody>
                    <a:bodyPr/>
                    <a:lstStyle/>
                    <a:p>
                      <a:r>
                        <a:rPr sz="1100" b="0">
                          <a:solidFill>
                            <a:srgbClr val="323232"/>
                          </a:solidFill>
                          <a:latin typeface="Segoe UI"/>
                        </a:rPr>
                        <a:t>2 Security drift</a:t>
                      </a:r>
                    </a:p>
                  </a:txBody>
                  <a:tcPr>
                    <a:solidFill>
                      <a:srgbClr val="FFFFFF"/>
                    </a:solidFill>
                  </a:tcPr>
                </a:tc>
                <a:tc>
                  <a:txBody>
                    <a:bodyPr/>
                    <a:lstStyle/>
                    <a:p>
                      <a:r>
                        <a:rPr sz="1100" b="0">
                          <a:solidFill>
                            <a:srgbClr val="323232"/>
                          </a:solidFill>
                          <a:latin typeface="Segoe UI"/>
                        </a:rPr>
                        <a:t>Public storage, RDP from Internet; Run now</a:t>
                      </a:r>
                    </a:p>
                  </a:txBody>
                  <a:tcPr>
                    <a:solidFill>
                      <a:srgbClr val="FFFFFF"/>
                    </a:solidFill>
                  </a:tcPr>
                </a:tc>
                <a:tc>
                  <a:txBody>
                    <a:bodyPr/>
                    <a:lstStyle/>
                    <a:p>
                      <a:r>
                        <a:rPr sz="1100" b="0">
                          <a:solidFill>
                            <a:srgbClr val="323232"/>
                          </a:solidFill>
                          <a:latin typeface="Segoe UI"/>
                        </a:rPr>
                        <a:t>waf-security (W2)</a:t>
                      </a:r>
                    </a:p>
                  </a:txBody>
                  <a:tcPr>
                    <a:solidFill>
                      <a:srgbClr val="FFFFFF"/>
                    </a:solidFill>
                  </a:tcPr>
                </a:tc>
                <a:tc>
                  <a:txBody>
                    <a:bodyPr/>
                    <a:lstStyle/>
                    <a:p>
                      <a:r>
                        <a:rPr sz="1100" b="0">
                          <a:solidFill>
                            <a:srgbClr val="323232"/>
                          </a:solidFill>
                          <a:latin typeface="Segoe UI"/>
                        </a:rPr>
                        <a:t>Drift with evidence; IaC fix and deny policy</a:t>
                      </a:r>
                    </a:p>
                  </a:txBody>
                  <a:tcPr>
                    <a:solidFill>
                      <a:srgbClr val="FFFFFF"/>
                    </a:solidFill>
                  </a:tcPr>
                </a:tc>
              </a:tr>
              <a:tr h="480000">
                <a:tc>
                  <a:txBody>
                    <a:bodyPr/>
                    <a:lstStyle/>
                    <a:p>
                      <a:r>
                        <a:rPr sz="1100" b="0">
                          <a:solidFill>
                            <a:srgbClr val="323232"/>
                          </a:solidFill>
                          <a:latin typeface="Segoe UI"/>
                        </a:rPr>
                        <a:t>3 Out-of-band change</a:t>
                      </a:r>
                    </a:p>
                  </a:txBody>
                  <a:tcPr>
                    <a:solidFill>
                      <a:srgbClr val="F3F7FC"/>
                    </a:solidFill>
                  </a:tcPr>
                </a:tc>
                <a:tc>
                  <a:txBody>
                    <a:bodyPr/>
                    <a:lstStyle/>
                    <a:p>
                      <a:r>
                        <a:rPr sz="1100" b="0">
                          <a:solidFill>
                            <a:srgbClr val="323232"/>
                          </a:solidFill>
                          <a:latin typeface="Segoe UI"/>
                        </a:rPr>
                        <a:t>Portal edit; Run now</a:t>
                      </a:r>
                    </a:p>
                  </a:txBody>
                  <a:tcPr>
                    <a:solidFill>
                      <a:srgbClr val="F3F7FC"/>
                    </a:solidFill>
                  </a:tcPr>
                </a:tc>
                <a:tc>
                  <a:txBody>
                    <a:bodyPr/>
                    <a:lstStyle/>
                    <a:p>
                      <a:r>
                        <a:rPr sz="1100" b="0">
                          <a:solidFill>
                            <a:srgbClr val="323232"/>
                          </a:solidFill>
                          <a:latin typeface="Segoe UI"/>
                        </a:rPr>
                        <a:t>waf-opex (W4)</a:t>
                      </a:r>
                    </a:p>
                  </a:txBody>
                  <a:tcPr>
                    <a:solidFill>
                      <a:srgbClr val="F3F7FC"/>
                    </a:solidFill>
                  </a:tcPr>
                </a:tc>
                <a:tc>
                  <a:txBody>
                    <a:bodyPr/>
                    <a:lstStyle/>
                    <a:p>
                      <a:r>
                        <a:rPr sz="1100" b="0">
                          <a:solidFill>
                            <a:srgbClr val="323232"/>
                          </a:solidFill>
                          <a:latin typeface="Segoe UI"/>
                        </a:rPr>
                        <a:t>Portal changes vs pipeline; backport or revert</a:t>
                      </a:r>
                    </a:p>
                  </a:txBody>
                  <a:tcPr>
                    <a:solidFill>
                      <a:srgbClr val="F3F7FC"/>
                    </a:solidFill>
                  </a:tcPr>
                </a:tc>
              </a:tr>
              <a:tr h="480000">
                <a:tc>
                  <a:txBody>
                    <a:bodyPr/>
                    <a:lstStyle/>
                    <a:p>
                      <a:r>
                        <a:rPr sz="1100" b="0">
                          <a:solidFill>
                            <a:srgbClr val="323232"/>
                          </a:solidFill>
                          <a:latin typeface="Segoe UI"/>
                        </a:rPr>
                        <a:t>4 Resource Health</a:t>
                      </a:r>
                    </a:p>
                  </a:txBody>
                  <a:tcPr>
                    <a:solidFill>
                      <a:srgbClr val="FFFFFF"/>
                    </a:solidFill>
                  </a:tcPr>
                </a:tc>
                <a:tc>
                  <a:txBody>
                    <a:bodyPr/>
                    <a:lstStyle/>
                    <a:p>
                      <a:r>
                        <a:rPr sz="1100" b="0">
                          <a:solidFill>
                            <a:srgbClr val="323232"/>
                          </a:solidFill>
                          <a:latin typeface="Segoe UI"/>
                        </a:rPr>
                        <a:t>Deallocate demo VM</a:t>
                      </a:r>
                    </a:p>
                  </a:txBody>
                  <a:tcPr>
                    <a:solidFill>
                      <a:srgbClr val="FFFFFF"/>
                    </a:solidFill>
                  </a:tcPr>
                </a:tc>
                <a:tc>
                  <a:txBody>
                    <a:bodyPr/>
                    <a:lstStyle/>
                    <a:p>
                      <a:r>
                        <a:rPr sz="1100" b="0">
                          <a:solidFill>
                            <a:srgbClr val="323232"/>
                          </a:solidFill>
                          <a:latin typeface="Segoe UI"/>
                        </a:rPr>
                        <a:t>rp-resource-health &gt; waf-reliability</a:t>
                      </a:r>
                    </a:p>
                  </a:txBody>
                  <a:tcPr>
                    <a:solidFill>
                      <a:srgbClr val="FFFFFF"/>
                    </a:solidFill>
                  </a:tcPr>
                </a:tc>
                <a:tc>
                  <a:txBody>
                    <a:bodyPr/>
                    <a:lstStyle/>
                    <a:p>
                      <a:r>
                        <a:rPr sz="1100" b="0">
                          <a:solidFill>
                            <a:srgbClr val="323232"/>
                          </a:solidFill>
                          <a:latin typeface="Segoe UI"/>
                        </a:rPr>
                        <a:t>UserInitiated, no fault; zone/backup gaps; tune rule</a:t>
                      </a:r>
                    </a:p>
                  </a:txBody>
                  <a:tcPr>
                    <a:solidFill>
                      <a:srgbClr val="FFFFFF"/>
                    </a:solidFill>
                  </a:tcPr>
                </a:tc>
              </a:tr>
              <a:tr h="480000">
                <a:tc>
                  <a:txBody>
                    <a:bodyPr/>
                    <a:lstStyle/>
                    <a:p>
                      <a:r>
                        <a:rPr sz="1100" b="0">
                          <a:solidFill>
                            <a:srgbClr val="323232"/>
                          </a:solidFill>
                          <a:latin typeface="Segoe UI"/>
                        </a:rPr>
                        <a:t>5 AKS CPU</a:t>
                      </a:r>
                    </a:p>
                  </a:txBody>
                  <a:tcPr>
                    <a:solidFill>
                      <a:srgbClr val="F3F7FC"/>
                    </a:solidFill>
                  </a:tcPr>
                </a:tc>
                <a:tc>
                  <a:txBody>
                    <a:bodyPr/>
                    <a:lstStyle/>
                    <a:p>
                      <a:r>
                        <a:rPr sz="1100" b="0">
                          <a:solidFill>
                            <a:srgbClr val="323232"/>
                          </a:solidFill>
                          <a:latin typeface="Segoe UI"/>
                        </a:rPr>
                        <a:t>CPU stress pods (non-prod)</a:t>
                      </a:r>
                    </a:p>
                  </a:txBody>
                  <a:tcPr>
                    <a:solidFill>
                      <a:srgbClr val="F3F7FC"/>
                    </a:solidFill>
                  </a:tcPr>
                </a:tc>
                <a:tc>
                  <a:txBody>
                    <a:bodyPr/>
                    <a:lstStyle/>
                    <a:p>
                      <a:r>
                        <a:rPr sz="1100" b="0">
                          <a:solidFill>
                            <a:srgbClr val="323232"/>
                          </a:solidFill>
                          <a:latin typeface="Segoe UI"/>
                        </a:rPr>
                        <a:t>rp-aks-platform &gt; aks-platform</a:t>
                      </a:r>
                    </a:p>
                  </a:txBody>
                  <a:tcPr>
                    <a:solidFill>
                      <a:srgbClr val="F3F7FC"/>
                    </a:solidFill>
                  </a:tcPr>
                </a:tc>
                <a:tc>
                  <a:txBody>
                    <a:bodyPr/>
                    <a:lstStyle/>
                    <a:p>
                      <a:r>
                        <a:rPr sz="1100" b="0">
                          <a:solidFill>
                            <a:srgbClr val="323232"/>
                          </a:solidFill>
                          <a:latin typeface="Segoe UI"/>
                        </a:rPr>
                        <a:t>Saturation, blind spot; scale down, autoscaler</a:t>
                      </a:r>
                    </a:p>
                  </a:txBody>
                  <a:tcPr>
                    <a:solidFill>
                      <a:srgbClr val="F3F7FC"/>
                    </a:solidFill>
                  </a:tcPr>
                </a:tc>
              </a:tr>
              <a:tr h="480000">
                <a:tc>
                  <a:txBody>
                    <a:bodyPr/>
                    <a:lstStyle/>
                    <a:p>
                      <a:r>
                        <a:rPr sz="1100" b="0">
                          <a:solidFill>
                            <a:srgbClr val="323232"/>
                          </a:solidFill>
                          <a:latin typeface="Segoe UI"/>
                        </a:rPr>
                        <a:t>6-7 Capacity, cost</a:t>
                      </a:r>
                    </a:p>
                  </a:txBody>
                  <a:tcPr>
                    <a:solidFill>
                      <a:srgbClr val="FFFFFF"/>
                    </a:solidFill>
                  </a:tcPr>
                </a:tc>
                <a:tc>
                  <a:txBody>
                    <a:bodyPr/>
                    <a:lstStyle/>
                    <a:p>
                      <a:r>
                        <a:rPr sz="1100" b="0">
                          <a:solidFill>
                            <a:srgbClr val="323232"/>
                          </a:solidFill>
                          <a:latin typeface="Segoe UI"/>
                        </a:rPr>
                        <a:t>Orphaned disk and IP; Run now</a:t>
                      </a:r>
                    </a:p>
                  </a:txBody>
                  <a:tcPr>
                    <a:solidFill>
                      <a:srgbClr val="FFFFFF"/>
                    </a:solidFill>
                  </a:tcPr>
                </a:tc>
                <a:tc>
                  <a:txBody>
                    <a:bodyPr/>
                    <a:lstStyle/>
                    <a:p>
                      <a:r>
                        <a:rPr sz="1100" b="0">
                          <a:solidFill>
                            <a:srgbClr val="323232"/>
                          </a:solidFill>
                          <a:latin typeface="Segoe UI"/>
                        </a:rPr>
                        <a:t>waf-performance, waf-cost</a:t>
                      </a:r>
                    </a:p>
                  </a:txBody>
                  <a:tcPr>
                    <a:solidFill>
                      <a:srgbClr val="FFFFFF"/>
                    </a:solidFill>
                  </a:tcPr>
                </a:tc>
                <a:tc>
                  <a:txBody>
                    <a:bodyPr/>
                    <a:lstStyle/>
                    <a:p>
                      <a:r>
                        <a:rPr sz="1100" b="0">
                          <a:solidFill>
                            <a:srgbClr val="323232"/>
                          </a:solidFill>
                          <a:latin typeface="Segoe UI"/>
                        </a:rPr>
                        <a:t>Headroom and EUR waste; IaC proposals</a:t>
                      </a:r>
                    </a:p>
                  </a:txBody>
                  <a:tcPr>
                    <a:solidFill>
                      <a:srgbClr val="FFFFFF"/>
                    </a:solidFill>
                  </a:tcPr>
                </a:tc>
              </a:tr>
              <a:tr h="480000">
                <a:tc>
                  <a:txBody>
                    <a:bodyPr/>
                    <a:lstStyle/>
                    <a:p>
                      <a:r>
                        <a:rPr sz="1100" b="0">
                          <a:solidFill>
                            <a:srgbClr val="323232"/>
                          </a:solidFill>
                          <a:latin typeface="Segoe UI"/>
                        </a:rPr>
                        <a:t>8 Close the loop</a:t>
                      </a:r>
                    </a:p>
                  </a:txBody>
                  <a:tcPr>
                    <a:solidFill>
                      <a:srgbClr val="F3F7FC"/>
                    </a:solidFill>
                  </a:tcPr>
                </a:tc>
                <a:tc>
                  <a:txBody>
                    <a:bodyPr/>
                    <a:lstStyle/>
                    <a:p>
                      <a:r>
                        <a:rPr sz="1100" b="0">
                          <a:solidFill>
                            <a:srgbClr val="323232"/>
                          </a:solidFill>
                          <a:latin typeface="Segoe UI"/>
                        </a:rPr>
                        <a:t>Run now monthly task</a:t>
                      </a:r>
                    </a:p>
                  </a:txBody>
                  <a:tcPr>
                    <a:solidFill>
                      <a:srgbClr val="F3F7FC"/>
                    </a:solidFill>
                  </a:tcPr>
                </a:tc>
                <a:tc>
                  <a:txBody>
                    <a:bodyPr/>
                    <a:lstStyle/>
                    <a:p>
                      <a:r>
                        <a:rPr sz="1100" b="0">
                          <a:solidFill>
                            <a:srgbClr val="323232"/>
                          </a:solidFill>
                          <a:latin typeface="Segoe UI"/>
                        </a:rPr>
                        <a:t>platform-orchestrator</a:t>
                      </a:r>
                    </a:p>
                  </a:txBody>
                  <a:tcPr>
                    <a:solidFill>
                      <a:srgbClr val="F3F7FC"/>
                    </a:solidFill>
                  </a:tcPr>
                </a:tc>
                <a:tc>
                  <a:txBody>
                    <a:bodyPr/>
                    <a:lstStyle/>
                    <a:p>
                      <a:r>
                        <a:rPr sz="1100" b="0">
                          <a:solidFill>
                            <a:srgbClr val="323232"/>
                          </a:solidFill>
                          <a:latin typeface="Segoe UI"/>
                        </a:rPr>
                        <a:t>CCoE backlog mapped to WAF codes</a:t>
                      </a:r>
                    </a:p>
                  </a:txBody>
                  <a:tcPr>
                    <a:solidFill>
                      <a:srgbClr val="F3F7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Implementation controls that must be proven</a:t>
            </a:r>
          </a:p>
        </p:txBody>
      </p:sp>
      <p:sp>
        <p:nvSpPr>
          <p:cNvPr id="4" name="TextBox 3"/>
          <p:cNvSpPr txBox="1"/>
          <p:nvPr/>
        </p:nvSpPr>
        <p:spPr>
          <a:xfrm>
            <a:off x="731520" y="1280160"/>
            <a:ext cx="10515600" cy="5029200"/>
          </a:xfrm>
          <a:prstGeom prst="rect">
            <a:avLst/>
          </a:prstGeom>
          <a:noFill/>
        </p:spPr>
        <p:txBody>
          <a:bodyPr wrap="square">
            <a:spAutoFit/>
          </a:bodyPr>
          <a:lstStyle/>
          <a:p>
            <a:pPr>
              <a:spcBef>
                <a:spcPts val="800"/>
              </a:spcBef>
              <a:spcAft>
                <a:spcPts val="400"/>
              </a:spcAft>
            </a:pPr>
            <a:r>
              <a:rPr sz="1600" b="0" i="0">
                <a:solidFill>
                  <a:srgbClr val="323232"/>
                </a:solidFill>
                <a:latin typeface="Segoe UI"/>
              </a:rPr>
              <a:t>• Approve scope, data geography and actual private runtime paths.</a:t>
            </a:r>
          </a:p>
          <a:p>
            <a:pPr>
              <a:spcBef>
                <a:spcPts val="800"/>
              </a:spcBef>
              <a:spcAft>
                <a:spcPts val="400"/>
              </a:spcAft>
            </a:pPr>
            <a:r>
              <a:rPr sz="1600" b="0" i="0">
                <a:solidFill>
                  <a:srgbClr val="323232"/>
                </a:solidFill>
                <a:latin typeface="Segoe UI"/>
              </a:rPr>
              <a:t>• Reader preset includes subscription Monitoring Contributor: inspect roles.</a:t>
            </a:r>
          </a:p>
          <a:p>
            <a:pPr>
              <a:spcBef>
                <a:spcPts val="800"/>
              </a:spcBef>
              <a:spcAft>
                <a:spcPts val="400"/>
              </a:spcAft>
            </a:pPr>
            <a:r>
              <a:rPr sz="1600" b="0" i="0">
                <a:solidFill>
                  <a:srgbClr val="323232"/>
                </a:solidFill>
                <a:latin typeface="Segoe UI"/>
              </a:rPr>
              <a:t>• Deny mutation-capable tools; prohibit higher-priority Allow hooks.</a:t>
            </a:r>
          </a:p>
          <a:p>
            <a:pPr>
              <a:spcBef>
                <a:spcPts val="800"/>
              </a:spcBef>
              <a:spcAft>
                <a:spcPts val="400"/>
              </a:spcAft>
            </a:pPr>
            <a:r>
              <a:rPr sz="1600" b="0" i="0">
                <a:solidFill>
                  <a:srgbClr val="323232"/>
                </a:solidFill>
                <a:latin typeface="Segoe UI"/>
              </a:rPr>
              <a:t>• Apply controls before intake; then disable autonomous quickstart.</a:t>
            </a:r>
          </a:p>
          <a:p>
            <a:pPr>
              <a:spcBef>
                <a:spcPts val="800"/>
              </a:spcBef>
              <a:spcAft>
                <a:spcPts val="400"/>
              </a:spcAft>
            </a:pPr>
            <a:r>
              <a:rPr sz="1600" b="0" i="0">
                <a:solidFill>
                  <a:srgbClr val="323232"/>
                </a:solidFill>
                <a:latin typeface="Segoe UI"/>
              </a:rPr>
              <a:t>• Test known events, negative access, alert routes and human fallback.</a:t>
            </a:r>
          </a:p>
          <a:p>
            <a:pPr>
              <a:spcBef>
                <a:spcPts val="800"/>
              </a:spcBef>
              <a:spcAft>
                <a:spcPts val="400"/>
              </a:spcAft>
            </a:pPr>
            <a:r>
              <a:rPr sz="1600" b="0" i="0">
                <a:solidFill>
                  <a:srgbClr val="323232"/>
                </a:solidFill>
                <a:latin typeface="Segoe UI"/>
              </a:rPr>
              <a:t>• Keep changes approval-gated with validation, rollback and audit.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Ownership: CCoE standards, teams operate</a:t>
            </a:r>
          </a:p>
        </p:txBody>
      </p:sp>
      <p:sp>
        <p:nvSpPr>
          <p:cNvPr id="4" name="TextBox 3"/>
          <p:cNvSpPr txBox="1"/>
          <p:nvPr/>
        </p:nvSpPr>
        <p:spPr>
          <a:xfrm>
            <a:off x="457200" y="1188720"/>
            <a:ext cx="5303520" cy="457200"/>
          </a:xfrm>
          <a:prstGeom prst="rect">
            <a:avLst/>
          </a:prstGeom>
          <a:noFill/>
        </p:spPr>
        <p:txBody>
          <a:bodyPr wrap="none">
            <a:spAutoFit/>
          </a:bodyPr>
          <a:lstStyle/>
          <a:p>
            <a:r>
              <a:rPr sz="1800" b="1" i="0">
                <a:solidFill>
                  <a:srgbClr val="0078D4"/>
                </a:solidFill>
                <a:latin typeface="Segoe UI"/>
              </a:rPr>
              <a:t>CCoE / governance</a:t>
            </a:r>
          </a:p>
        </p:txBody>
      </p:sp>
      <p:sp>
        <p:nvSpPr>
          <p:cNvPr id="5" name="TextBox 4"/>
          <p:cNvSpPr txBox="1"/>
          <p:nvPr/>
        </p:nvSpPr>
        <p:spPr>
          <a:xfrm>
            <a:off x="4572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Own reusable acceptance patterns and exception criteria</a:t>
            </a:r>
          </a:p>
          <a:p>
            <a:pPr>
              <a:spcBef>
                <a:spcPts val="600"/>
              </a:spcBef>
            </a:pPr>
            <a:r>
              <a:rPr sz="1400" b="0" i="0">
                <a:solidFill>
                  <a:srgbClr val="323232"/>
                </a:solidFill>
                <a:latin typeface="Segoe UI"/>
              </a:rPr>
              <a:t>• Review framework coverage, risk and measurable outcomes</a:t>
            </a:r>
          </a:p>
          <a:p>
            <a:pPr>
              <a:spcBef>
                <a:spcPts val="600"/>
              </a:spcBef>
            </a:pPr>
            <a:r>
              <a:rPr sz="1400" b="0" i="0">
                <a:solidFill>
                  <a:srgbClr val="323232"/>
                </a:solidFill>
                <a:latin typeface="Segoe UI"/>
              </a:rPr>
              <a:t>• Sponsor standardization; do not absorb every on-call duty</a:t>
            </a:r>
          </a:p>
        </p:txBody>
      </p:sp>
      <p:sp>
        <p:nvSpPr>
          <p:cNvPr id="6" name="TextBox 5"/>
          <p:cNvSpPr txBox="1"/>
          <p:nvPr/>
        </p:nvSpPr>
        <p:spPr>
          <a:xfrm>
            <a:off x="6400800" y="1188720"/>
            <a:ext cx="5303520" cy="457200"/>
          </a:xfrm>
          <a:prstGeom prst="rect">
            <a:avLst/>
          </a:prstGeom>
          <a:noFill/>
        </p:spPr>
        <p:txBody>
          <a:bodyPr wrap="none">
            <a:spAutoFit/>
          </a:bodyPr>
          <a:lstStyle/>
          <a:p>
            <a:r>
              <a:rPr sz="1800" b="1" i="0">
                <a:solidFill>
                  <a:srgbClr val="0078D4"/>
                </a:solidFill>
                <a:latin typeface="Segoe UI"/>
              </a:rPr>
              <a:t>Platform / workload teams</a:t>
            </a:r>
          </a:p>
        </p:txBody>
      </p:sp>
      <p:sp>
        <p:nvSpPr>
          <p:cNvPr id="7" name="TextBox 6"/>
          <p:cNvSpPr txBox="1"/>
          <p:nvPr/>
        </p:nvSpPr>
        <p:spPr>
          <a:xfrm>
            <a:off x="6400800" y="1737360"/>
            <a:ext cx="5303520" cy="4572000"/>
          </a:xfrm>
          <a:prstGeom prst="rect">
            <a:avLst/>
          </a:prstGeom>
          <a:noFill/>
        </p:spPr>
        <p:txBody>
          <a:bodyPr wrap="square">
            <a:spAutoFit/>
          </a:bodyPr>
          <a:lstStyle/>
          <a:p>
            <a:pPr>
              <a:spcBef>
                <a:spcPts val="600"/>
              </a:spcBef>
            </a:pPr>
            <a:r>
              <a:rPr sz="1400" b="0" i="0">
                <a:solidFill>
                  <a:srgbClr val="323232"/>
                </a:solidFill>
                <a:latin typeface="Segoe UI"/>
              </a:rPr>
              <a:t>• Own agent service, evidence, connectors and runbook freshness</a:t>
            </a:r>
          </a:p>
          <a:p>
            <a:pPr>
              <a:spcBef>
                <a:spcPts val="600"/>
              </a:spcBef>
            </a:pPr>
            <a:r>
              <a:rPr sz="1400" b="0" i="0">
                <a:solidFill>
                  <a:srgbClr val="323232"/>
                </a:solidFill>
                <a:latin typeface="Segoe UI"/>
              </a:rPr>
              <a:t>• Retain network, AI, AKS and vending change authority</a:t>
            </a:r>
          </a:p>
          <a:p>
            <a:pPr>
              <a:spcBef>
                <a:spcPts val="600"/>
              </a:spcBef>
            </a:pPr>
            <a:r>
              <a:rPr sz="1400" b="0" i="0">
                <a:solidFill>
                  <a:srgbClr val="323232"/>
                </a:solidFill>
                <a:latin typeface="Segoe UI"/>
              </a:rPr>
              <a:t>• Workload teams retain user-flow SLOs and application behavior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Cost: one scoped pilot, transparent assumptions</a:t>
            </a:r>
          </a:p>
        </p:txBody>
      </p:sp>
      <p:sp>
        <p:nvSpPr>
          <p:cNvPr id="4" name="TextBox 3"/>
          <p:cNvSpPr txBox="1"/>
          <p:nvPr/>
        </p:nvSpPr>
        <p:spPr>
          <a:xfrm>
            <a:off x="731520" y="1280160"/>
            <a:ext cx="10515600" cy="5029200"/>
          </a:xfrm>
          <a:prstGeom prst="rect">
            <a:avLst/>
          </a:prstGeom>
          <a:noFill/>
        </p:spPr>
        <p:txBody>
          <a:bodyPr wrap="square">
            <a:spAutoFit/>
          </a:bodyPr>
          <a:lstStyle/>
          <a:p>
            <a:pPr>
              <a:spcBef>
                <a:spcPts val="800"/>
              </a:spcBef>
              <a:spcAft>
                <a:spcPts val="400"/>
              </a:spcAft>
            </a:pPr>
            <a:r>
              <a:rPr sz="1600" b="0" i="0">
                <a:solidFill>
                  <a:srgbClr val="323232"/>
                </a:solidFill>
                <a:latin typeface="Segoe UI"/>
              </a:rPr>
              <a:t>• Verified retail AAU: West Europe EUR 0.1197; France and Sweden Central EUR 0.0968.</a:t>
            </a:r>
          </a:p>
          <a:p>
            <a:pPr>
              <a:spcBef>
                <a:spcPts val="800"/>
              </a:spcBef>
              <a:spcAft>
                <a:spcPts val="400"/>
              </a:spcAft>
            </a:pPr>
            <a:r>
              <a:rPr sz="1600" b="0" i="0">
                <a:solidFill>
                  <a:srgbClr val="323232"/>
                </a:solidFill>
                <a:latin typeface="Segoe UI"/>
              </a:rPr>
              <a:t>• Fixed baseline: 4 AAU per agent-hour; active work is token-metered.</a:t>
            </a:r>
          </a:p>
          <a:p>
            <a:pPr>
              <a:spcBef>
                <a:spcPts val="800"/>
              </a:spcBef>
              <a:spcAft>
                <a:spcPts val="400"/>
              </a:spcAft>
            </a:pPr>
            <a:r>
              <a:rPr sz="1600" b="0" i="0">
                <a:solidFill>
                  <a:srgbClr val="323232"/>
                </a:solidFill>
                <a:latin typeface="Segoe UI"/>
              </a:rPr>
              <a:t>• Illustrative 730-hour month + 30 investigations + 100 questions: EUR 330-522 agent-only.</a:t>
            </a:r>
          </a:p>
          <a:p>
            <a:pPr>
              <a:spcBef>
                <a:spcPts val="800"/>
              </a:spcBef>
              <a:spcAft>
                <a:spcPts val="400"/>
              </a:spcAft>
            </a:pPr>
            <a:r>
              <a:rPr sz="1600" b="0" i="0">
                <a:solidFill>
                  <a:srgbClr val="323232"/>
                </a:solidFill>
                <a:latin typeface="Segoe UI"/>
              </a:rPr>
              <a:t>• Excluded: monitoring, networking, AI/AKS capacity, ITSM, pipelines, VAT and staff.</a:t>
            </a:r>
          </a:p>
          <a:p>
            <a:pPr>
              <a:spcBef>
                <a:spcPts val="800"/>
              </a:spcBef>
              <a:spcAft>
                <a:spcPts val="400"/>
              </a:spcAft>
            </a:pPr>
            <a:r>
              <a:rPr sz="1600" b="0" i="0">
                <a:solidFill>
                  <a:srgbClr val="323232"/>
                </a:solidFill>
                <a:latin typeface="Segoe UI"/>
              </a:rPr>
              <a:t>• Stopping does not remove fixed charges; validate trial eligibility rather than assuming free use.</a:t>
            </a:r>
          </a:p>
          <a:p>
            <a:pPr>
              <a:spcBef>
                <a:spcPts val="800"/>
              </a:spcBef>
              <a:spcAft>
                <a:spcPts val="400"/>
              </a:spcAft>
            </a:pPr>
            <a:r>
              <a:rPr sz="1600" b="0" i="0">
                <a:solidFill>
                  <a:srgbClr val="323232"/>
                </a:solidFill>
                <a:latin typeface="Segoe UI"/>
              </a:rPr>
              <a:t>• Reference deployment: Sweden Central, 2,000 AAU cap, maximum about EUR 477/month.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none">
            <a:spAutoFit/>
          </a:bodyPr>
          <a:lstStyle/>
          <a:p>
            <a:r>
              <a:rPr sz="2400" b="1" i="0">
                <a:solidFill>
                  <a:srgbClr val="FFFFFF"/>
                </a:solidFill>
                <a:latin typeface="Segoe UI"/>
              </a:rPr>
              <a:t>Four-week pilot with evidence-based gates</a:t>
            </a:r>
          </a:p>
        </p:txBody>
      </p:sp>
      <p:graphicFrame>
        <p:nvGraphicFramePr>
          <p:cNvPr id="4" name="Table 3"/>
          <p:cNvGraphicFramePr>
            <a:graphicFrameLocks noGrp="1"/>
          </p:cNvGraphicFramePr>
          <p:nvPr/>
        </p:nvGraphicFramePr>
        <p:xfrm>
          <a:off x="731520" y="1280160"/>
          <a:ext cx="10515600" cy="2286000"/>
        </p:xfrm>
        <a:graphic>
          <a:graphicData uri="http://schemas.openxmlformats.org/drawingml/2006/table">
            <a:tbl>
              <a:tblPr firstRow="1" bandRow="1">
                <a:tableStyleId>{5C22544A-7EE6-4342-B048-85BDC9FD1C3A}</a:tableStyleId>
              </a:tblPr>
              <a:tblGrid>
                <a:gridCol w="3505200"/>
                <a:gridCol w="3505200"/>
                <a:gridCol w="3505200"/>
              </a:tblGrid>
              <a:tr h="457200">
                <a:tc>
                  <a:txBody>
                    <a:bodyPr/>
                    <a:lstStyle/>
                    <a:p>
                      <a:r>
                        <a:rPr sz="1200" b="1" i="0">
                          <a:solidFill>
                            <a:srgbClr val="FFFFFF"/>
                          </a:solidFill>
                          <a:latin typeface="Segoe UI"/>
                        </a:rPr>
                        <a:t>Phase</a:t>
                      </a:r>
                    </a:p>
                  </a:txBody>
                  <a:tcPr>
                    <a:solidFill>
                      <a:srgbClr val="0078D4"/>
                    </a:solidFill>
                  </a:tcPr>
                </a:tc>
                <a:tc>
                  <a:txBody>
                    <a:bodyPr/>
                    <a:lstStyle/>
                    <a:p>
                      <a:r>
                        <a:rPr sz="1200" b="1" i="0">
                          <a:solidFill>
                            <a:srgbClr val="FFFFFF"/>
                          </a:solidFill>
                          <a:latin typeface="Segoe UI"/>
                        </a:rPr>
                        <a:t>Deliver</a:t>
                      </a:r>
                    </a:p>
                  </a:txBody>
                  <a:tcPr>
                    <a:solidFill>
                      <a:srgbClr val="0078D4"/>
                    </a:solidFill>
                  </a:tcPr>
                </a:tc>
                <a:tc>
                  <a:txBody>
                    <a:bodyPr/>
                    <a:lstStyle/>
                    <a:p>
                      <a:r>
                        <a:rPr sz="1200" b="1" i="0">
                          <a:solidFill>
                            <a:srgbClr val="FFFFFF"/>
                          </a:solidFill>
                          <a:latin typeface="Segoe UI"/>
                        </a:rPr>
                        <a:t>Gate</a:t>
                      </a:r>
                    </a:p>
                  </a:txBody>
                  <a:tcPr>
                    <a:solidFill>
                      <a:srgbClr val="0078D4"/>
                    </a:solidFill>
                  </a:tcPr>
                </a:tc>
              </a:tr>
              <a:tr h="457200">
                <a:tc>
                  <a:txBody>
                    <a:bodyPr/>
                    <a:lstStyle/>
                    <a:p>
                      <a:r>
                        <a:rPr sz="1100" b="0" i="0">
                          <a:solidFill>
                            <a:srgbClr val="323232"/>
                          </a:solidFill>
                          <a:latin typeface="Segoe UI"/>
                        </a:rPr>
                        <a:t>Week 1</a:t>
                      </a:r>
                    </a:p>
                  </a:txBody>
                  <a:tcPr/>
                </a:tc>
                <a:tc>
                  <a:txBody>
                    <a:bodyPr/>
                    <a:lstStyle/>
                    <a:p>
                      <a:r>
                        <a:rPr sz="1100" b="0" i="0">
                          <a:solidFill>
                            <a:srgbClr val="323232"/>
                          </a:solidFill>
                          <a:latin typeface="Segoe UI"/>
                        </a:rPr>
                        <a:t>Scope, identity, telemetry, geography</a:t>
                      </a:r>
                    </a:p>
                  </a:txBody>
                  <a:tcPr/>
                </a:tc>
                <a:tc>
                  <a:txBody>
                    <a:bodyPr/>
                    <a:lstStyle/>
                    <a:p>
                      <a:r>
                        <a:rPr sz="1100" b="0" i="0">
                          <a:solidFill>
                            <a:srgbClr val="323232"/>
                          </a:solidFill>
                          <a:latin typeface="Segoe UI"/>
                        </a:rPr>
                        <a:t>Read access and negative tests</a:t>
                      </a:r>
                    </a:p>
                  </a:txBody>
                  <a:tcPr/>
                </a:tc>
              </a:tr>
              <a:tr h="457200">
                <a:tc>
                  <a:txBody>
                    <a:bodyPr/>
                    <a:lstStyle/>
                    <a:p>
                      <a:r>
                        <a:rPr sz="1100" b="0" i="0">
                          <a:solidFill>
                            <a:srgbClr val="323232"/>
                          </a:solidFill>
                          <a:latin typeface="Segoe UI"/>
                        </a:rPr>
                        <a:t>Week 2</a:t>
                      </a:r>
                    </a:p>
                  </a:txBody>
                  <a:tcPr>
                    <a:solidFill>
                      <a:srgbClr val="F3F2F1"/>
                    </a:solidFill>
                  </a:tcPr>
                </a:tc>
                <a:tc>
                  <a:txBody>
                    <a:bodyPr/>
                    <a:lstStyle/>
                    <a:p>
                      <a:r>
                        <a:rPr sz="1100" b="0" i="0">
                          <a:solidFill>
                            <a:srgbClr val="323232"/>
                          </a:solidFill>
                          <a:latin typeface="Segoe UI"/>
                        </a:rPr>
                        <a:t>Known-incident / sandbox investigations</a:t>
                      </a:r>
                    </a:p>
                  </a:txBody>
                  <a:tcPr>
                    <a:solidFill>
                      <a:srgbClr val="F3F2F1"/>
                    </a:solidFill>
                  </a:tcPr>
                </a:tc>
                <a:tc>
                  <a:txBody>
                    <a:bodyPr/>
                    <a:lstStyle/>
                    <a:p>
                      <a:r>
                        <a:rPr sz="1100" b="0" i="0">
                          <a:solidFill>
                            <a:srgbClr val="323232"/>
                          </a:solidFill>
                          <a:latin typeface="Segoe UI"/>
                        </a:rPr>
                        <a:t>Accurate evidence, owner, zero writes</a:t>
                      </a:r>
                    </a:p>
                  </a:txBody>
                  <a:tcPr>
                    <a:solidFill>
                      <a:srgbClr val="F3F2F1"/>
                    </a:solidFill>
                  </a:tcPr>
                </a:tc>
              </a:tr>
              <a:tr h="457200">
                <a:tc>
                  <a:txBody>
                    <a:bodyPr/>
                    <a:lstStyle/>
                    <a:p>
                      <a:r>
                        <a:rPr sz="1100" b="0" i="0">
                          <a:solidFill>
                            <a:srgbClr val="323232"/>
                          </a:solidFill>
                          <a:latin typeface="Segoe UI"/>
                        </a:rPr>
                        <a:t>Week 3</a:t>
                      </a:r>
                    </a:p>
                  </a:txBody>
                  <a:tcPr/>
                </a:tc>
                <a:tc>
                  <a:txBody>
                    <a:bodyPr/>
                    <a:lstStyle/>
                    <a:p>
                      <a:r>
                        <a:rPr sz="1100" b="0" i="0">
                          <a:solidFill>
                            <a:srgbClr val="323232"/>
                          </a:solidFill>
                          <a:latin typeface="Segoe UI"/>
                        </a:rPr>
                        <a:t>Narrow automated incident intake</a:t>
                      </a:r>
                    </a:p>
                  </a:txBody>
                  <a:tcPr/>
                </a:tc>
                <a:tc>
                  <a:txBody>
                    <a:bodyPr/>
                    <a:lstStyle/>
                    <a:p>
                      <a:r>
                        <a:rPr sz="1100" b="0" i="0">
                          <a:solidFill>
                            <a:srgbClr val="323232"/>
                          </a:solidFill>
                          <a:latin typeface="Segoe UI"/>
                        </a:rPr>
                        <a:t>Both routes work; no alert storm</a:t>
                      </a:r>
                    </a:p>
                  </a:txBody>
                  <a:tcPr/>
                </a:tc>
              </a:tr>
              <a:tr h="457200">
                <a:tc>
                  <a:txBody>
                    <a:bodyPr/>
                    <a:lstStyle/>
                    <a:p>
                      <a:r>
                        <a:rPr sz="1100" b="0" i="0">
                          <a:solidFill>
                            <a:srgbClr val="323232"/>
                          </a:solidFill>
                          <a:latin typeface="Segoe UI"/>
                        </a:rPr>
                        <a:t>Week 4</a:t>
                      </a:r>
                    </a:p>
                  </a:txBody>
                  <a:tcPr>
                    <a:solidFill>
                      <a:srgbClr val="F3F2F1"/>
                    </a:solidFill>
                  </a:tcPr>
                </a:tc>
                <a:tc>
                  <a:txBody>
                    <a:bodyPr/>
                    <a:lstStyle/>
                    <a:p>
                      <a:r>
                        <a:rPr sz="1100" b="0" i="0">
                          <a:solidFill>
                            <a:srgbClr val="323232"/>
                          </a:solidFill>
                          <a:latin typeface="Segoe UI"/>
                        </a:rPr>
                        <a:t>Matched-case review and scale decision</a:t>
                      </a:r>
                    </a:p>
                  </a:txBody>
                  <a:tcPr>
                    <a:solidFill>
                      <a:srgbClr val="F3F2F1"/>
                    </a:solidFill>
                  </a:tcPr>
                </a:tc>
                <a:tc>
                  <a:txBody>
                    <a:bodyPr/>
                    <a:lstStyle/>
                    <a:p>
                      <a:r>
                        <a:rPr sz="1100" b="0" i="0">
                          <a:solidFill>
                            <a:srgbClr val="323232"/>
                          </a:solidFill>
                          <a:latin typeface="Segoe UI"/>
                        </a:rPr>
                        <a:t>Value, cost, fallback and ownership</a:t>
                      </a:r>
                    </a:p>
                  </a:txBody>
                  <a:tcPr>
                    <a:solidFill>
                      <a:srgbClr val="F3F2F1"/>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640080"/>
          </a:xfrm>
          <a:prstGeom prst="rect">
            <a:avLst/>
          </a:prstGeom>
          <a:noFill/>
        </p:spPr>
        <p:txBody>
          <a:bodyPr wrap="square">
            <a:spAutoFit/>
          </a:bodyPr>
          <a:lstStyle/>
          <a:p>
            <a:r>
              <a:rPr sz="2400" b="1" i="0">
                <a:solidFill>
                  <a:srgbClr val="FFFFFF"/>
                </a:solidFill>
                <a:latin typeface="Segoe UI"/>
              </a:rPr>
              <a:t>Approval requested: a bounded platform pilot</a:t>
            </a:r>
          </a:p>
        </p:txBody>
      </p:sp>
      <p:sp>
        <p:nvSpPr>
          <p:cNvPr id="4" name="TextBox 3"/>
          <p:cNvSpPr txBox="1"/>
          <p:nvPr/>
        </p:nvSpPr>
        <p:spPr>
          <a:xfrm>
            <a:off x="731520" y="1280160"/>
            <a:ext cx="10515600" cy="5029200"/>
          </a:xfrm>
          <a:prstGeom prst="rect">
            <a:avLst/>
          </a:prstGeom>
          <a:noFill/>
        </p:spPr>
        <p:txBody>
          <a:bodyPr wrap="square">
            <a:spAutoFit/>
          </a:bodyPr>
          <a:lstStyle/>
          <a:p>
            <a:pPr>
              <a:spcBef>
                <a:spcPts val="800"/>
              </a:spcBef>
              <a:spcAft>
                <a:spcPts val="400"/>
              </a:spcAft>
            </a:pPr>
            <a:r>
              <a:rPr sz="1600" b="0" i="0">
                <a:solidFill>
                  <a:srgbClr val="323232"/>
                </a:solidFill>
                <a:latin typeface="Segoe UI"/>
              </a:rPr>
              <a:t>• Name the accountable platform service owner and CCoE sponsor.</a:t>
            </a:r>
          </a:p>
          <a:p>
            <a:pPr>
              <a:spcBef>
                <a:spcPts val="800"/>
              </a:spcBef>
              <a:spcAft>
                <a:spcPts val="400"/>
              </a:spcAft>
            </a:pPr>
            <a:r>
              <a:rPr sz="1600" b="0" i="0">
                <a:solidFill>
                  <a:srgbClr val="323232"/>
                </a:solidFill>
                <a:latin typeface="Segoe UI"/>
              </a:rPr>
              <a:t>• Choose one sandbox trust boundary and the first use cases.</a:t>
            </a:r>
          </a:p>
          <a:p>
            <a:pPr>
              <a:spcBef>
                <a:spcPts val="800"/>
              </a:spcBef>
              <a:spcAft>
                <a:spcPts val="400"/>
              </a:spcAft>
            </a:pPr>
            <a:r>
              <a:rPr sz="1600" b="0" i="0">
                <a:solidFill>
                  <a:srgbClr val="323232"/>
                </a:solidFill>
                <a:latin typeface="Segoe UI"/>
              </a:rPr>
              <a:t>• Approve data/region, access and incremental cost envelope.</a:t>
            </a:r>
          </a:p>
          <a:p>
            <a:pPr>
              <a:spcBef>
                <a:spcPts val="800"/>
              </a:spcBef>
              <a:spcAft>
                <a:spcPts val="400"/>
              </a:spcAft>
            </a:pPr>
            <a:r>
              <a:rPr sz="1600" b="0" i="0">
                <a:solidFill>
                  <a:srgbClr val="323232"/>
                </a:solidFill>
                <a:latin typeface="Segoe UI"/>
              </a:rPr>
              <a:t>• Require evidence-linked outputs, zero unauthorized actions and intact on-call.</a:t>
            </a:r>
          </a:p>
          <a:p>
            <a:pPr>
              <a:spcBef>
                <a:spcPts val="800"/>
              </a:spcBef>
              <a:spcAft>
                <a:spcPts val="400"/>
              </a:spcAft>
            </a:pPr>
            <a:r>
              <a:rPr sz="1600" b="0" i="0">
                <a:solidFill>
                  <a:srgbClr val="323232"/>
                </a:solidFill>
                <a:latin typeface="Segoe UI"/>
              </a:rPr>
              <a:t>• Decide scale only after acceptance gates; remediation is a separate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